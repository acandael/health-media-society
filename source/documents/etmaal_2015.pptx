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sldIdLst>
    <p:sldId id="275" r:id="rId2"/>
    <p:sldId id="278" r:id="rId3"/>
    <p:sldId id="280" r:id="rId4"/>
    <p:sldId id="283" r:id="rId5"/>
    <p:sldId id="281" r:id="rId6"/>
    <p:sldId id="282" r:id="rId7"/>
    <p:sldId id="284" r:id="rId8"/>
    <p:sldId id="256" r:id="rId9"/>
    <p:sldId id="258" r:id="rId10"/>
    <p:sldId id="259" r:id="rId11"/>
    <p:sldId id="270" r:id="rId12"/>
    <p:sldId id="260" r:id="rId13"/>
    <p:sldId id="273" r:id="rId14"/>
    <p:sldId id="265" r:id="rId15"/>
    <p:sldId id="272" r:id="rId16"/>
    <p:sldId id="285" r:id="rId17"/>
  </p:sldIdLst>
  <p:sldSz cx="9144000" cy="6858000" type="screen4x3"/>
  <p:notesSz cx="6881813" cy="92964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9172" autoAdjust="0"/>
  </p:normalViewPr>
  <p:slideViewPr>
    <p:cSldViewPr>
      <p:cViewPr varScale="1">
        <p:scale>
          <a:sx n="71" d="100"/>
          <a:sy n="71" d="100"/>
        </p:scale>
        <p:origin x="-1786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7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44D7A53-E847-4461-84A4-E148532894C9}" type="doc">
      <dgm:prSet loTypeId="urn:microsoft.com/office/officeart/2005/8/layout/orgChart1" loCatId="hierarchy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nl-BE"/>
        </a:p>
      </dgm:t>
    </dgm:pt>
    <dgm:pt modelId="{DB5B1ECA-7687-45C7-A805-C8A8793408F8}">
      <dgm:prSet phldrT="[Text]"/>
      <dgm:spPr>
        <a:ln>
          <a:solidFill>
            <a:srgbClr val="00B050"/>
          </a:solidFill>
        </a:ln>
      </dgm:spPr>
      <dgm:t>
        <a:bodyPr/>
        <a:lstStyle/>
        <a:p>
          <a:r>
            <a:rPr lang="nl-BE" b="1" cap="small" baseline="0" dirty="0" smtClean="0">
              <a:solidFill>
                <a:srgbClr val="00B050"/>
              </a:solidFill>
              <a:latin typeface="+mj-lt"/>
              <a:cs typeface="Helvetica" panose="020B0604020202020204" pitchFamily="34" charset="0"/>
            </a:rPr>
            <a:t>Research Question</a:t>
          </a:r>
          <a:r>
            <a:rPr lang="nl-BE" b="1" dirty="0" smtClean="0">
              <a:solidFill>
                <a:srgbClr val="00B050"/>
              </a:solidFill>
              <a:latin typeface="+mj-lt"/>
              <a:cs typeface="Helvetica" panose="020B0604020202020204" pitchFamily="34" charset="0"/>
            </a:rPr>
            <a:t>: </a:t>
          </a:r>
          <a:r>
            <a:rPr lang="nl-BE" b="1" i="1" dirty="0" smtClean="0">
              <a:solidFill>
                <a:srgbClr val="00B050"/>
              </a:solidFill>
              <a:latin typeface="+mj-lt"/>
              <a:cs typeface="Helvetica" panose="020B0604020202020204" pitchFamily="34" charset="0"/>
            </a:rPr>
            <a:t>backstage</a:t>
          </a:r>
          <a:r>
            <a:rPr lang="nl-BE" b="1" dirty="0" smtClean="0">
              <a:solidFill>
                <a:srgbClr val="00B050"/>
              </a:solidFill>
              <a:latin typeface="+mj-lt"/>
              <a:cs typeface="Helvetica" panose="020B0604020202020204" pitchFamily="34" charset="0"/>
            </a:rPr>
            <a:t> </a:t>
          </a:r>
          <a:r>
            <a:rPr lang="nl-BE" b="1" dirty="0" err="1" smtClean="0">
              <a:solidFill>
                <a:srgbClr val="00B050"/>
              </a:solidFill>
              <a:latin typeface="+mj-lt"/>
              <a:cs typeface="Helvetica" panose="020B0604020202020204" pitchFamily="34" charset="0"/>
            </a:rPr>
            <a:t>production</a:t>
          </a:r>
          <a:r>
            <a:rPr lang="nl-BE" b="1" dirty="0" smtClean="0">
              <a:solidFill>
                <a:srgbClr val="00B050"/>
              </a:solidFill>
              <a:latin typeface="+mj-lt"/>
              <a:cs typeface="Helvetica" panose="020B0604020202020204" pitchFamily="34" charset="0"/>
            </a:rPr>
            <a:t> </a:t>
          </a:r>
          <a:r>
            <a:rPr lang="nl-BE" b="1" dirty="0" err="1" smtClean="0">
              <a:solidFill>
                <a:srgbClr val="00B050"/>
              </a:solidFill>
              <a:latin typeface="+mj-lt"/>
              <a:cs typeface="Helvetica" panose="020B0604020202020204" pitchFamily="34" charset="0"/>
            </a:rPr>
            <a:t>processes</a:t>
          </a:r>
          <a:r>
            <a:rPr lang="nl-BE" b="1" dirty="0" smtClean="0">
              <a:solidFill>
                <a:srgbClr val="00B050"/>
              </a:solidFill>
              <a:latin typeface="+mj-lt"/>
              <a:cs typeface="Helvetica" panose="020B0604020202020204" pitchFamily="34" charset="0"/>
            </a:rPr>
            <a:t> of </a:t>
          </a:r>
          <a:r>
            <a:rPr lang="nl-BE" b="1" dirty="0" err="1" smtClean="0">
              <a:solidFill>
                <a:srgbClr val="00B050"/>
              </a:solidFill>
              <a:latin typeface="+mj-lt"/>
              <a:cs typeface="Helvetica" panose="020B0604020202020204" pitchFamily="34" charset="0"/>
            </a:rPr>
            <a:t>elderly-related</a:t>
          </a:r>
          <a:r>
            <a:rPr lang="nl-BE" b="1" dirty="0" smtClean="0">
              <a:solidFill>
                <a:srgbClr val="00B050"/>
              </a:solidFill>
              <a:latin typeface="+mj-lt"/>
              <a:cs typeface="Helvetica" panose="020B0604020202020204" pitchFamily="34" charset="0"/>
            </a:rPr>
            <a:t> health </a:t>
          </a:r>
          <a:r>
            <a:rPr lang="nl-BE" b="1" dirty="0" err="1" smtClean="0">
              <a:solidFill>
                <a:srgbClr val="00B050"/>
              </a:solidFill>
              <a:latin typeface="+mj-lt"/>
              <a:cs typeface="Helvetica" panose="020B0604020202020204" pitchFamily="34" charset="0"/>
            </a:rPr>
            <a:t>news</a:t>
          </a:r>
          <a:r>
            <a:rPr lang="nl-BE" b="1" dirty="0" smtClean="0">
              <a:solidFill>
                <a:srgbClr val="00B050"/>
              </a:solidFill>
              <a:latin typeface="+mj-lt"/>
              <a:cs typeface="Helvetica" panose="020B0604020202020204" pitchFamily="34" charset="0"/>
            </a:rPr>
            <a:t>? </a:t>
          </a:r>
          <a:endParaRPr lang="nl-BE" dirty="0">
            <a:solidFill>
              <a:srgbClr val="00B050"/>
            </a:solidFill>
            <a:latin typeface="+mj-lt"/>
            <a:cs typeface="Helvetica" panose="020B0604020202020204" pitchFamily="34" charset="0"/>
          </a:endParaRPr>
        </a:p>
      </dgm:t>
    </dgm:pt>
    <dgm:pt modelId="{7A2A0B36-66E8-406A-B723-C257F7F4D40D}" type="parTrans" cxnId="{10D47B01-C762-48B7-8E58-A87CF0DD4E49}">
      <dgm:prSet/>
      <dgm:spPr/>
      <dgm:t>
        <a:bodyPr/>
        <a:lstStyle/>
        <a:p>
          <a:endParaRPr lang="nl-BE"/>
        </a:p>
      </dgm:t>
    </dgm:pt>
    <dgm:pt modelId="{4E0DDFB3-B8AD-41F2-B5EF-83F8F5800739}" type="sibTrans" cxnId="{10D47B01-C762-48B7-8E58-A87CF0DD4E49}">
      <dgm:prSet/>
      <dgm:spPr/>
      <dgm:t>
        <a:bodyPr/>
        <a:lstStyle/>
        <a:p>
          <a:endParaRPr lang="nl-BE"/>
        </a:p>
      </dgm:t>
    </dgm:pt>
    <dgm:pt modelId="{A0DD894F-3C74-4397-AD1F-0527D46E69D5}">
      <dgm:prSet/>
      <dgm:spPr/>
      <dgm:t>
        <a:bodyPr/>
        <a:lstStyle/>
        <a:p>
          <a:r>
            <a:rPr lang="nl-NL" b="1" cap="small" baseline="0" dirty="0" err="1" smtClean="0"/>
            <a:t>linguistic</a:t>
          </a:r>
          <a:r>
            <a:rPr lang="nl-NL" b="1" cap="small" baseline="0" dirty="0" smtClean="0"/>
            <a:t> </a:t>
          </a:r>
          <a:r>
            <a:rPr lang="nl-NL" b="1" cap="small" baseline="0" dirty="0" err="1" smtClean="0"/>
            <a:t>ethnography</a:t>
          </a:r>
          <a:endParaRPr lang="nl-BE" b="1" cap="small" baseline="0" dirty="0"/>
        </a:p>
      </dgm:t>
    </dgm:pt>
    <dgm:pt modelId="{F3863314-B16C-42AE-A14C-9E5AC6AF24B4}" type="parTrans" cxnId="{3FC7E87A-400A-42E1-BCF2-7AB09A6CF00F}">
      <dgm:prSet/>
      <dgm:spPr>
        <a:blipFill rotWithShape="0">
          <a:blip xmlns:r="http://schemas.openxmlformats.org/officeDocument/2006/relationships" r:embed="rId1">
            <a:duotone>
              <a:schemeClr val="dk1">
                <a:hueOff val="0"/>
                <a:satOff val="0"/>
                <a:lumOff val="0"/>
                <a:alphaOff val="0"/>
                <a:shade val="20000"/>
                <a:satMod val="200000"/>
              </a:schemeClr>
              <a:schemeClr val="dk1">
                <a:hueOff val="0"/>
                <a:satOff val="0"/>
                <a:lumOff val="0"/>
                <a:alphaOff val="0"/>
                <a:tint val="12000"/>
                <a:satMod val="190000"/>
              </a:schemeClr>
            </a:duotone>
          </a:blip>
          <a:stretch>
            <a:fillRect/>
          </a:stretch>
        </a:blipFill>
        <a:ln>
          <a:solidFill>
            <a:schemeClr val="bg1"/>
          </a:solidFill>
        </a:ln>
      </dgm:spPr>
      <dgm:t>
        <a:bodyPr/>
        <a:lstStyle/>
        <a:p>
          <a:endParaRPr lang="nl-BE"/>
        </a:p>
      </dgm:t>
    </dgm:pt>
    <dgm:pt modelId="{4B09C15B-9680-4CB3-85D9-B20C8ADE3486}" type="sibTrans" cxnId="{3FC7E87A-400A-42E1-BCF2-7AB09A6CF00F}">
      <dgm:prSet/>
      <dgm:spPr/>
      <dgm:t>
        <a:bodyPr/>
        <a:lstStyle/>
        <a:p>
          <a:endParaRPr lang="nl-BE"/>
        </a:p>
      </dgm:t>
    </dgm:pt>
    <dgm:pt modelId="{5E74792C-35BA-4EDD-AC80-7B29D4517882}">
      <dgm:prSet/>
      <dgm:spPr/>
      <dgm:t>
        <a:bodyPr/>
        <a:lstStyle/>
        <a:p>
          <a:r>
            <a:rPr lang="nl-NL" b="1" cap="small" baseline="0" dirty="0" smtClean="0"/>
            <a:t>sites</a:t>
          </a:r>
          <a:endParaRPr lang="nl-BE" b="1" cap="small" baseline="0" dirty="0"/>
        </a:p>
      </dgm:t>
    </dgm:pt>
    <dgm:pt modelId="{A9E974E9-4614-4906-ACAE-A010E39C5081}" type="parTrans" cxnId="{4D66076F-8EFA-464C-995F-F982ADDB8B64}">
      <dgm:prSet/>
      <dgm:spPr>
        <a:ln>
          <a:solidFill>
            <a:schemeClr val="bg1"/>
          </a:solidFill>
        </a:ln>
      </dgm:spPr>
      <dgm:t>
        <a:bodyPr/>
        <a:lstStyle/>
        <a:p>
          <a:endParaRPr lang="nl-BE">
            <a:ln>
              <a:solidFill>
                <a:schemeClr val="bg1"/>
              </a:solidFill>
            </a:ln>
          </a:endParaRPr>
        </a:p>
      </dgm:t>
    </dgm:pt>
    <dgm:pt modelId="{776B20CF-25C1-40D6-A729-1BA410994568}" type="sibTrans" cxnId="{4D66076F-8EFA-464C-995F-F982ADDB8B64}">
      <dgm:prSet/>
      <dgm:spPr/>
      <dgm:t>
        <a:bodyPr/>
        <a:lstStyle/>
        <a:p>
          <a:endParaRPr lang="nl-BE"/>
        </a:p>
      </dgm:t>
    </dgm:pt>
    <dgm:pt modelId="{FB341DEA-7EA9-496C-B7EC-CD0C58750816}">
      <dgm:prSet/>
      <dgm:spPr>
        <a:ln>
          <a:solidFill>
            <a:srgbClr val="0070C0"/>
          </a:solidFill>
        </a:ln>
      </dgm:spPr>
      <dgm:t>
        <a:bodyPr/>
        <a:lstStyle/>
        <a:p>
          <a:r>
            <a:rPr lang="nl-NL" b="1" cap="small" baseline="0" dirty="0" smtClean="0">
              <a:solidFill>
                <a:srgbClr val="0070C0"/>
              </a:solidFill>
            </a:rPr>
            <a:t>online blog or website</a:t>
          </a:r>
        </a:p>
      </dgm:t>
    </dgm:pt>
    <dgm:pt modelId="{F4D2F867-DBEA-4261-AF8C-B5511A0D16BE}" type="parTrans" cxnId="{3FE0B3A1-66BB-4014-9ABA-9A1A3BB4BC60}">
      <dgm:prSet/>
      <dgm:spPr>
        <a:ln>
          <a:solidFill>
            <a:srgbClr val="0070C0"/>
          </a:solidFill>
        </a:ln>
      </dgm:spPr>
      <dgm:t>
        <a:bodyPr/>
        <a:lstStyle/>
        <a:p>
          <a:endParaRPr lang="nl-BE"/>
        </a:p>
      </dgm:t>
    </dgm:pt>
    <dgm:pt modelId="{8FEDB49F-1589-4545-BB79-5A7245F75343}" type="sibTrans" cxnId="{3FE0B3A1-66BB-4014-9ABA-9A1A3BB4BC60}">
      <dgm:prSet/>
      <dgm:spPr/>
      <dgm:t>
        <a:bodyPr/>
        <a:lstStyle/>
        <a:p>
          <a:endParaRPr lang="nl-BE"/>
        </a:p>
      </dgm:t>
    </dgm:pt>
    <dgm:pt modelId="{1092C323-6422-4E7D-9468-6C596F3941C1}" type="asst">
      <dgm:prSet/>
      <dgm:spPr>
        <a:ln>
          <a:solidFill>
            <a:srgbClr val="0070C0"/>
          </a:solidFill>
        </a:ln>
      </dgm:spPr>
      <dgm:t>
        <a:bodyPr/>
        <a:lstStyle/>
        <a:p>
          <a:r>
            <a:rPr lang="nl-NL" b="1" cap="small" baseline="0" dirty="0" smtClean="0">
              <a:solidFill>
                <a:srgbClr val="0070C0"/>
              </a:solidFill>
            </a:rPr>
            <a:t>pr-</a:t>
          </a:r>
          <a:r>
            <a:rPr lang="nl-NL" b="1" cap="small" baseline="0" dirty="0" err="1" smtClean="0">
              <a:solidFill>
                <a:srgbClr val="0070C0"/>
              </a:solidFill>
            </a:rPr>
            <a:t>department</a:t>
          </a:r>
          <a:r>
            <a:rPr lang="nl-NL" b="1" cap="small" baseline="0" dirty="0" smtClean="0">
              <a:solidFill>
                <a:srgbClr val="0070C0"/>
              </a:solidFill>
            </a:rPr>
            <a:t> </a:t>
          </a:r>
          <a:r>
            <a:rPr lang="nl-NL" b="1" cap="small" baseline="0" dirty="0" err="1" smtClean="0">
              <a:solidFill>
                <a:srgbClr val="0070C0"/>
              </a:solidFill>
            </a:rPr>
            <a:t>pharmaceutical</a:t>
          </a:r>
          <a:r>
            <a:rPr lang="nl-NL" b="1" cap="small" baseline="0" dirty="0" smtClean="0">
              <a:solidFill>
                <a:srgbClr val="0070C0"/>
              </a:solidFill>
            </a:rPr>
            <a:t> company</a:t>
          </a:r>
        </a:p>
      </dgm:t>
    </dgm:pt>
    <dgm:pt modelId="{6C144C9F-49C0-4EE8-BD4B-B0DCAD77304E}" type="parTrans" cxnId="{9D2D9FE4-CDAC-4E96-9398-CCF972201CFC}">
      <dgm:prSet/>
      <dgm:spPr>
        <a:ln>
          <a:solidFill>
            <a:srgbClr val="0070C0"/>
          </a:solidFill>
        </a:ln>
      </dgm:spPr>
      <dgm:t>
        <a:bodyPr/>
        <a:lstStyle/>
        <a:p>
          <a:endParaRPr lang="nl-BE"/>
        </a:p>
      </dgm:t>
    </dgm:pt>
    <dgm:pt modelId="{64C8FF9B-F411-4630-BDCC-88B459640720}" type="sibTrans" cxnId="{9D2D9FE4-CDAC-4E96-9398-CCF972201CFC}">
      <dgm:prSet/>
      <dgm:spPr/>
      <dgm:t>
        <a:bodyPr/>
        <a:lstStyle/>
        <a:p>
          <a:endParaRPr lang="nl-BE"/>
        </a:p>
      </dgm:t>
    </dgm:pt>
    <dgm:pt modelId="{E469237C-DEB0-4013-8A1D-FEFF6103441B}" type="asst">
      <dgm:prSet/>
      <dgm:spPr>
        <a:ln>
          <a:solidFill>
            <a:srgbClr val="0070C0"/>
          </a:solidFill>
        </a:ln>
      </dgm:spPr>
      <dgm:t>
        <a:bodyPr/>
        <a:lstStyle/>
        <a:p>
          <a:r>
            <a:rPr lang="nl-NL" b="1" cap="small" baseline="0" dirty="0" smtClean="0">
              <a:solidFill>
                <a:srgbClr val="0070C0"/>
              </a:solidFill>
            </a:rPr>
            <a:t>General </a:t>
          </a:r>
          <a:r>
            <a:rPr lang="nl-NL" b="1" cap="small" baseline="0" dirty="0" err="1" smtClean="0">
              <a:solidFill>
                <a:srgbClr val="0070C0"/>
              </a:solidFill>
            </a:rPr>
            <a:t>newspaper</a:t>
          </a:r>
          <a:endParaRPr lang="nl-NL" b="1" cap="small" baseline="0" dirty="0" smtClean="0">
            <a:solidFill>
              <a:srgbClr val="0070C0"/>
            </a:solidFill>
          </a:endParaRPr>
        </a:p>
      </dgm:t>
    </dgm:pt>
    <dgm:pt modelId="{45AFB9C8-7F52-4973-B59A-7130199F8004}" type="parTrans" cxnId="{A3F8E3DC-B769-4864-BF39-4D0374188AC1}">
      <dgm:prSet/>
      <dgm:spPr>
        <a:ln>
          <a:solidFill>
            <a:srgbClr val="0070C0"/>
          </a:solidFill>
        </a:ln>
      </dgm:spPr>
      <dgm:t>
        <a:bodyPr/>
        <a:lstStyle/>
        <a:p>
          <a:endParaRPr lang="nl-BE"/>
        </a:p>
      </dgm:t>
    </dgm:pt>
    <dgm:pt modelId="{7EC5EE06-4325-4A37-A66C-B8ECC27D1AAF}" type="sibTrans" cxnId="{A3F8E3DC-B769-4864-BF39-4D0374188AC1}">
      <dgm:prSet/>
      <dgm:spPr/>
      <dgm:t>
        <a:bodyPr/>
        <a:lstStyle/>
        <a:p>
          <a:endParaRPr lang="nl-BE"/>
        </a:p>
      </dgm:t>
    </dgm:pt>
    <dgm:pt modelId="{D48304F3-D246-4E75-A232-501C9278C56B}">
      <dgm:prSet/>
      <dgm:spPr/>
      <dgm:t>
        <a:bodyPr/>
        <a:lstStyle/>
        <a:p>
          <a:r>
            <a:rPr lang="nl-NL" b="1" cap="small" baseline="0" dirty="0" err="1" smtClean="0"/>
            <a:t>Production</a:t>
          </a:r>
          <a:r>
            <a:rPr lang="nl-NL" b="1" cap="small" baseline="0" dirty="0" smtClean="0"/>
            <a:t> </a:t>
          </a:r>
          <a:r>
            <a:rPr lang="nl-NL" b="1" cap="small" baseline="0" dirty="0" err="1" smtClean="0"/>
            <a:t>process</a:t>
          </a:r>
          <a:endParaRPr lang="nl-BE" b="1" cap="small" baseline="0" dirty="0"/>
        </a:p>
      </dgm:t>
    </dgm:pt>
    <dgm:pt modelId="{2A1E37AF-DED4-49D6-9FF0-F8C9CB057002}" type="sibTrans" cxnId="{65179EEF-8EC0-46D9-8878-DC836CEE9C85}">
      <dgm:prSet/>
      <dgm:spPr/>
      <dgm:t>
        <a:bodyPr/>
        <a:lstStyle/>
        <a:p>
          <a:endParaRPr lang="nl-BE"/>
        </a:p>
      </dgm:t>
    </dgm:pt>
    <dgm:pt modelId="{8C983C91-98CC-4EF4-A372-F34E2BA1EC46}" type="parTrans" cxnId="{65179EEF-8EC0-46D9-8878-DC836CEE9C85}">
      <dgm:prSet/>
      <dgm:spPr>
        <a:ln>
          <a:solidFill>
            <a:schemeClr val="bg1"/>
          </a:solidFill>
        </a:ln>
      </dgm:spPr>
      <dgm:t>
        <a:bodyPr/>
        <a:lstStyle/>
        <a:p>
          <a:endParaRPr lang="nl-BE"/>
        </a:p>
      </dgm:t>
    </dgm:pt>
    <dgm:pt modelId="{21B5759D-F2DB-49BA-AF32-0E7E67AB9C8A}" type="asst">
      <dgm:prSet/>
      <dgm:spPr>
        <a:ln>
          <a:solidFill>
            <a:srgbClr val="0070C0"/>
          </a:solidFill>
        </a:ln>
      </dgm:spPr>
      <dgm:t>
        <a:bodyPr/>
        <a:lstStyle/>
        <a:p>
          <a:r>
            <a:rPr lang="nl-NL" b="1" cap="small" baseline="0" dirty="0" smtClean="0">
              <a:solidFill>
                <a:srgbClr val="0070C0"/>
              </a:solidFill>
            </a:rPr>
            <a:t>Magazine </a:t>
          </a:r>
          <a:r>
            <a:rPr lang="nl-NL" b="1" cap="small" baseline="0" dirty="0" err="1" smtClean="0">
              <a:solidFill>
                <a:srgbClr val="0070C0"/>
              </a:solidFill>
            </a:rPr>
            <a:t>for</a:t>
          </a:r>
          <a:r>
            <a:rPr lang="nl-NL" b="1" cap="small" baseline="0" dirty="0" smtClean="0">
              <a:solidFill>
                <a:srgbClr val="0070C0"/>
              </a:solidFill>
            </a:rPr>
            <a:t> the </a:t>
          </a:r>
          <a:r>
            <a:rPr lang="nl-NL" b="1" cap="small" baseline="0" dirty="0" err="1" smtClean="0">
              <a:solidFill>
                <a:srgbClr val="0070C0"/>
              </a:solidFill>
            </a:rPr>
            <a:t>elderly</a:t>
          </a:r>
          <a:endParaRPr lang="nl-NL" b="1" cap="small" baseline="0" dirty="0" smtClean="0">
            <a:solidFill>
              <a:srgbClr val="0070C0"/>
            </a:solidFill>
          </a:endParaRPr>
        </a:p>
      </dgm:t>
    </dgm:pt>
    <dgm:pt modelId="{45A10F03-8898-42A5-AC65-DB325CBFB513}" type="sibTrans" cxnId="{DC947E5C-47C4-46F9-8EC7-E6AB56F259BD}">
      <dgm:prSet/>
      <dgm:spPr/>
      <dgm:t>
        <a:bodyPr/>
        <a:lstStyle/>
        <a:p>
          <a:endParaRPr lang="nl-BE"/>
        </a:p>
      </dgm:t>
    </dgm:pt>
    <dgm:pt modelId="{2F8A56E5-ADD9-4B4D-93F2-1419249E743B}" type="parTrans" cxnId="{DC947E5C-47C4-46F9-8EC7-E6AB56F259BD}">
      <dgm:prSet/>
      <dgm:spPr>
        <a:ln>
          <a:solidFill>
            <a:srgbClr val="0070C0"/>
          </a:solidFill>
        </a:ln>
      </dgm:spPr>
      <dgm:t>
        <a:bodyPr/>
        <a:lstStyle/>
        <a:p>
          <a:endParaRPr lang="nl-BE"/>
        </a:p>
      </dgm:t>
    </dgm:pt>
    <dgm:pt modelId="{357FD443-7690-411F-BB27-51ABE7F541B8}" type="pres">
      <dgm:prSet presAssocID="{B44D7A53-E847-4461-84A4-E148532894C9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nl-BE"/>
        </a:p>
      </dgm:t>
    </dgm:pt>
    <dgm:pt modelId="{F0A82FBB-0830-465A-8CF2-398365261A8E}" type="pres">
      <dgm:prSet presAssocID="{DB5B1ECA-7687-45C7-A805-C8A8793408F8}" presName="hierRoot1" presStyleCnt="0">
        <dgm:presLayoutVars>
          <dgm:hierBranch val="init"/>
        </dgm:presLayoutVars>
      </dgm:prSet>
      <dgm:spPr/>
    </dgm:pt>
    <dgm:pt modelId="{FB752BD4-187E-46AB-A2F8-E9C0BC186B1B}" type="pres">
      <dgm:prSet presAssocID="{DB5B1ECA-7687-45C7-A805-C8A8793408F8}" presName="rootComposite1" presStyleCnt="0"/>
      <dgm:spPr/>
    </dgm:pt>
    <dgm:pt modelId="{8392AC33-BB8D-40B8-B135-163D1BD4BEA7}" type="pres">
      <dgm:prSet presAssocID="{DB5B1ECA-7687-45C7-A805-C8A8793408F8}" presName="rootText1" presStyleLbl="node0" presStyleIdx="0" presStyleCnt="1" custScaleX="424456" custLinFactNeighborX="-1963" custLinFactNeighborY="-89395">
        <dgm:presLayoutVars>
          <dgm:chPref val="3"/>
        </dgm:presLayoutVars>
      </dgm:prSet>
      <dgm:spPr/>
      <dgm:t>
        <a:bodyPr/>
        <a:lstStyle/>
        <a:p>
          <a:endParaRPr lang="nl-BE"/>
        </a:p>
      </dgm:t>
    </dgm:pt>
    <dgm:pt modelId="{6CD85B65-88C4-44E1-8705-EE4ADACB5972}" type="pres">
      <dgm:prSet presAssocID="{DB5B1ECA-7687-45C7-A805-C8A8793408F8}" presName="rootConnector1" presStyleLbl="node1" presStyleIdx="0" presStyleCnt="0"/>
      <dgm:spPr/>
      <dgm:t>
        <a:bodyPr/>
        <a:lstStyle/>
        <a:p>
          <a:endParaRPr lang="nl-BE"/>
        </a:p>
      </dgm:t>
    </dgm:pt>
    <dgm:pt modelId="{958851DC-2A7C-4D81-ABA2-EB5D85613369}" type="pres">
      <dgm:prSet presAssocID="{DB5B1ECA-7687-45C7-A805-C8A8793408F8}" presName="hierChild2" presStyleCnt="0"/>
      <dgm:spPr/>
    </dgm:pt>
    <dgm:pt modelId="{702E1C99-238F-4715-AB7E-D06EF2F97C4F}" type="pres">
      <dgm:prSet presAssocID="{F3863314-B16C-42AE-A14C-9E5AC6AF24B4}" presName="Name37" presStyleLbl="parChTrans1D2" presStyleIdx="0" presStyleCnt="3"/>
      <dgm:spPr/>
      <dgm:t>
        <a:bodyPr/>
        <a:lstStyle/>
        <a:p>
          <a:endParaRPr lang="nl-BE"/>
        </a:p>
      </dgm:t>
    </dgm:pt>
    <dgm:pt modelId="{F39F0760-68A0-485F-AA69-D5DE96C683C0}" type="pres">
      <dgm:prSet presAssocID="{A0DD894F-3C74-4397-AD1F-0527D46E69D5}" presName="hierRoot2" presStyleCnt="0">
        <dgm:presLayoutVars>
          <dgm:hierBranch val="init"/>
        </dgm:presLayoutVars>
      </dgm:prSet>
      <dgm:spPr/>
    </dgm:pt>
    <dgm:pt modelId="{4DB1705F-DA9D-4CFE-85A7-1156CB8FD9BA}" type="pres">
      <dgm:prSet presAssocID="{A0DD894F-3C74-4397-AD1F-0527D46E69D5}" presName="rootComposite" presStyleCnt="0"/>
      <dgm:spPr/>
    </dgm:pt>
    <dgm:pt modelId="{245E99A3-381B-4772-A2A5-7FD6BB5A52E9}" type="pres">
      <dgm:prSet presAssocID="{A0DD894F-3C74-4397-AD1F-0527D46E69D5}" presName="rootText" presStyleLbl="node2" presStyleIdx="0" presStyleCnt="3" custScaleX="114876" custLinFactNeighborX="-18431" custLinFactNeighborY="10188">
        <dgm:presLayoutVars>
          <dgm:chPref val="3"/>
        </dgm:presLayoutVars>
      </dgm:prSet>
      <dgm:spPr/>
      <dgm:t>
        <a:bodyPr/>
        <a:lstStyle/>
        <a:p>
          <a:endParaRPr lang="nl-BE"/>
        </a:p>
      </dgm:t>
    </dgm:pt>
    <dgm:pt modelId="{83DE8AA1-BA34-40CA-A4A9-650BE6BD0977}" type="pres">
      <dgm:prSet presAssocID="{A0DD894F-3C74-4397-AD1F-0527D46E69D5}" presName="rootConnector" presStyleLbl="node2" presStyleIdx="0" presStyleCnt="3"/>
      <dgm:spPr/>
      <dgm:t>
        <a:bodyPr/>
        <a:lstStyle/>
        <a:p>
          <a:endParaRPr lang="nl-BE"/>
        </a:p>
      </dgm:t>
    </dgm:pt>
    <dgm:pt modelId="{824B2D3C-0D9B-47D7-8F04-4CB30E022241}" type="pres">
      <dgm:prSet presAssocID="{A0DD894F-3C74-4397-AD1F-0527D46E69D5}" presName="hierChild4" presStyleCnt="0"/>
      <dgm:spPr/>
    </dgm:pt>
    <dgm:pt modelId="{C727F2A9-D6C2-4D87-B5BC-F44D1400ABA0}" type="pres">
      <dgm:prSet presAssocID="{A0DD894F-3C74-4397-AD1F-0527D46E69D5}" presName="hierChild5" presStyleCnt="0"/>
      <dgm:spPr/>
    </dgm:pt>
    <dgm:pt modelId="{BAD275F6-814E-4DA1-97ED-BB0A1D1CAE1F}" type="pres">
      <dgm:prSet presAssocID="{A9E974E9-4614-4906-ACAE-A010E39C5081}" presName="Name37" presStyleLbl="parChTrans1D2" presStyleIdx="1" presStyleCnt="3"/>
      <dgm:spPr/>
      <dgm:t>
        <a:bodyPr/>
        <a:lstStyle/>
        <a:p>
          <a:endParaRPr lang="nl-BE"/>
        </a:p>
      </dgm:t>
    </dgm:pt>
    <dgm:pt modelId="{4F96262A-0B8A-4810-BD64-7FD5DDD93A56}" type="pres">
      <dgm:prSet presAssocID="{5E74792C-35BA-4EDD-AC80-7B29D4517882}" presName="hierRoot2" presStyleCnt="0">
        <dgm:presLayoutVars>
          <dgm:hierBranch val="init"/>
        </dgm:presLayoutVars>
      </dgm:prSet>
      <dgm:spPr/>
    </dgm:pt>
    <dgm:pt modelId="{6EB972FA-EC16-426E-8647-009CA1B84AE1}" type="pres">
      <dgm:prSet presAssocID="{5E74792C-35BA-4EDD-AC80-7B29D4517882}" presName="rootComposite" presStyleCnt="0"/>
      <dgm:spPr/>
    </dgm:pt>
    <dgm:pt modelId="{339493FF-EAE7-4C2F-B1C0-513DA41CF859}" type="pres">
      <dgm:prSet presAssocID="{5E74792C-35BA-4EDD-AC80-7B29D4517882}" presName="rootText" presStyleLbl="node2" presStyleIdx="1" presStyleCnt="3" custScaleX="113443" custLinFactNeighborX="1880" custLinFactNeighborY="10188">
        <dgm:presLayoutVars>
          <dgm:chPref val="3"/>
        </dgm:presLayoutVars>
      </dgm:prSet>
      <dgm:spPr/>
      <dgm:t>
        <a:bodyPr/>
        <a:lstStyle/>
        <a:p>
          <a:endParaRPr lang="nl-BE"/>
        </a:p>
      </dgm:t>
    </dgm:pt>
    <dgm:pt modelId="{30BF4ABD-92E6-4CBC-BED0-E709D08A7C80}" type="pres">
      <dgm:prSet presAssocID="{5E74792C-35BA-4EDD-AC80-7B29D4517882}" presName="rootConnector" presStyleLbl="node2" presStyleIdx="1" presStyleCnt="3"/>
      <dgm:spPr/>
      <dgm:t>
        <a:bodyPr/>
        <a:lstStyle/>
        <a:p>
          <a:endParaRPr lang="nl-BE"/>
        </a:p>
      </dgm:t>
    </dgm:pt>
    <dgm:pt modelId="{A805B0D1-29E9-4496-A34B-C1B9440E44AD}" type="pres">
      <dgm:prSet presAssocID="{5E74792C-35BA-4EDD-AC80-7B29D4517882}" presName="hierChild4" presStyleCnt="0"/>
      <dgm:spPr/>
    </dgm:pt>
    <dgm:pt modelId="{FF01E3BC-3A69-44B6-BA9D-F7BD4A65901D}" type="pres">
      <dgm:prSet presAssocID="{F4D2F867-DBEA-4261-AF8C-B5511A0D16BE}" presName="Name37" presStyleLbl="parChTrans1D3" presStyleIdx="0" presStyleCnt="4"/>
      <dgm:spPr/>
      <dgm:t>
        <a:bodyPr/>
        <a:lstStyle/>
        <a:p>
          <a:endParaRPr lang="nl-BE"/>
        </a:p>
      </dgm:t>
    </dgm:pt>
    <dgm:pt modelId="{A49F7494-359A-4BE8-B20D-2947B2A3CE44}" type="pres">
      <dgm:prSet presAssocID="{FB341DEA-7EA9-496C-B7EC-CD0C58750816}" presName="hierRoot2" presStyleCnt="0">
        <dgm:presLayoutVars>
          <dgm:hierBranch val="init"/>
        </dgm:presLayoutVars>
      </dgm:prSet>
      <dgm:spPr/>
    </dgm:pt>
    <dgm:pt modelId="{A72D365F-9C3E-4C6E-8F5C-75EE5A60A860}" type="pres">
      <dgm:prSet presAssocID="{FB341DEA-7EA9-496C-B7EC-CD0C58750816}" presName="rootComposite" presStyleCnt="0"/>
      <dgm:spPr/>
    </dgm:pt>
    <dgm:pt modelId="{8BAF2DB4-9095-4DA5-B12E-F3E83C1EFFAB}" type="pres">
      <dgm:prSet presAssocID="{FB341DEA-7EA9-496C-B7EC-CD0C58750816}" presName="rootText" presStyleLbl="node3" presStyleIdx="0" presStyleCnt="1" custScaleX="115687" custLinFactY="-67062" custLinFactNeighborX="2518" custLinFactNeighborY="-100000">
        <dgm:presLayoutVars>
          <dgm:chPref val="3"/>
        </dgm:presLayoutVars>
      </dgm:prSet>
      <dgm:spPr/>
      <dgm:t>
        <a:bodyPr/>
        <a:lstStyle/>
        <a:p>
          <a:endParaRPr lang="nl-BE"/>
        </a:p>
      </dgm:t>
    </dgm:pt>
    <dgm:pt modelId="{56415F4E-DB33-44FB-9102-98B986B7E96E}" type="pres">
      <dgm:prSet presAssocID="{FB341DEA-7EA9-496C-B7EC-CD0C58750816}" presName="rootConnector" presStyleLbl="node3" presStyleIdx="0" presStyleCnt="1"/>
      <dgm:spPr/>
      <dgm:t>
        <a:bodyPr/>
        <a:lstStyle/>
        <a:p>
          <a:endParaRPr lang="nl-BE"/>
        </a:p>
      </dgm:t>
    </dgm:pt>
    <dgm:pt modelId="{C0F1649E-DE76-4FFC-8AB1-B2F4504C9042}" type="pres">
      <dgm:prSet presAssocID="{FB341DEA-7EA9-496C-B7EC-CD0C58750816}" presName="hierChild4" presStyleCnt="0"/>
      <dgm:spPr/>
    </dgm:pt>
    <dgm:pt modelId="{AB620481-AEB0-4AF9-8988-C7EFEE305723}" type="pres">
      <dgm:prSet presAssocID="{FB341DEA-7EA9-496C-B7EC-CD0C58750816}" presName="hierChild5" presStyleCnt="0"/>
      <dgm:spPr/>
    </dgm:pt>
    <dgm:pt modelId="{CE896000-A36D-4AA7-A385-7EC9612C45D9}" type="pres">
      <dgm:prSet presAssocID="{5E74792C-35BA-4EDD-AC80-7B29D4517882}" presName="hierChild5" presStyleCnt="0"/>
      <dgm:spPr/>
    </dgm:pt>
    <dgm:pt modelId="{6D417400-516B-4B84-BED1-BC8C12186EB5}" type="pres">
      <dgm:prSet presAssocID="{6C144C9F-49C0-4EE8-BD4B-B0DCAD77304E}" presName="Name111" presStyleLbl="parChTrans1D3" presStyleIdx="1" presStyleCnt="4"/>
      <dgm:spPr/>
      <dgm:t>
        <a:bodyPr/>
        <a:lstStyle/>
        <a:p>
          <a:endParaRPr lang="nl-BE"/>
        </a:p>
      </dgm:t>
    </dgm:pt>
    <dgm:pt modelId="{E00E4FE2-EBAA-4D59-9292-E32951A89AB4}" type="pres">
      <dgm:prSet presAssocID="{1092C323-6422-4E7D-9468-6C596F3941C1}" presName="hierRoot3" presStyleCnt="0">
        <dgm:presLayoutVars>
          <dgm:hierBranch val="init"/>
        </dgm:presLayoutVars>
      </dgm:prSet>
      <dgm:spPr/>
    </dgm:pt>
    <dgm:pt modelId="{1B1CA692-33ED-4368-8572-D0820F446CAB}" type="pres">
      <dgm:prSet presAssocID="{1092C323-6422-4E7D-9468-6C596F3941C1}" presName="rootComposite3" presStyleCnt="0"/>
      <dgm:spPr/>
    </dgm:pt>
    <dgm:pt modelId="{6F502359-5983-4113-8A9F-3B89A5A07CD3}" type="pres">
      <dgm:prSet presAssocID="{1092C323-6422-4E7D-9468-6C596F3941C1}" presName="rootText3" presStyleLbl="asst2" presStyleIdx="0" presStyleCnt="3" custScaleX="116500" custLinFactNeighborX="-3435" custLinFactNeighborY="-20250">
        <dgm:presLayoutVars>
          <dgm:chPref val="3"/>
        </dgm:presLayoutVars>
      </dgm:prSet>
      <dgm:spPr/>
      <dgm:t>
        <a:bodyPr/>
        <a:lstStyle/>
        <a:p>
          <a:endParaRPr lang="nl-BE"/>
        </a:p>
      </dgm:t>
    </dgm:pt>
    <dgm:pt modelId="{91900FD2-AEC6-4032-89A7-471ADE5FA3B5}" type="pres">
      <dgm:prSet presAssocID="{1092C323-6422-4E7D-9468-6C596F3941C1}" presName="rootConnector3" presStyleLbl="asst2" presStyleIdx="0" presStyleCnt="3"/>
      <dgm:spPr/>
      <dgm:t>
        <a:bodyPr/>
        <a:lstStyle/>
        <a:p>
          <a:endParaRPr lang="nl-BE"/>
        </a:p>
      </dgm:t>
    </dgm:pt>
    <dgm:pt modelId="{21BBD383-254E-421E-A948-4DA9CE705732}" type="pres">
      <dgm:prSet presAssocID="{1092C323-6422-4E7D-9468-6C596F3941C1}" presName="hierChild6" presStyleCnt="0"/>
      <dgm:spPr/>
    </dgm:pt>
    <dgm:pt modelId="{CD0E253C-7732-4FAD-9887-CAF5BA233F3D}" type="pres">
      <dgm:prSet presAssocID="{1092C323-6422-4E7D-9468-6C596F3941C1}" presName="hierChild7" presStyleCnt="0"/>
      <dgm:spPr/>
    </dgm:pt>
    <dgm:pt modelId="{85DDA556-47AA-4A1C-8BD1-78765CAEB173}" type="pres">
      <dgm:prSet presAssocID="{45AFB9C8-7F52-4973-B59A-7130199F8004}" presName="Name111" presStyleLbl="parChTrans1D3" presStyleIdx="2" presStyleCnt="4"/>
      <dgm:spPr/>
      <dgm:t>
        <a:bodyPr/>
        <a:lstStyle/>
        <a:p>
          <a:endParaRPr lang="nl-BE"/>
        </a:p>
      </dgm:t>
    </dgm:pt>
    <dgm:pt modelId="{12699411-A920-4F7F-B488-537B173202FB}" type="pres">
      <dgm:prSet presAssocID="{E469237C-DEB0-4013-8A1D-FEFF6103441B}" presName="hierRoot3" presStyleCnt="0">
        <dgm:presLayoutVars>
          <dgm:hierBranch val="init"/>
        </dgm:presLayoutVars>
      </dgm:prSet>
      <dgm:spPr/>
    </dgm:pt>
    <dgm:pt modelId="{6DF39787-BC6B-4129-B9A0-EE4213676743}" type="pres">
      <dgm:prSet presAssocID="{E469237C-DEB0-4013-8A1D-FEFF6103441B}" presName="rootComposite3" presStyleCnt="0"/>
      <dgm:spPr/>
    </dgm:pt>
    <dgm:pt modelId="{32AB50FF-C4D6-43B5-9784-8C0BBCB982F5}" type="pres">
      <dgm:prSet presAssocID="{E469237C-DEB0-4013-8A1D-FEFF6103441B}" presName="rootText3" presStyleLbl="asst2" presStyleIdx="1" presStyleCnt="3" custScaleX="115687" custLinFactNeighborX="8629" custLinFactNeighborY="-20288">
        <dgm:presLayoutVars>
          <dgm:chPref val="3"/>
        </dgm:presLayoutVars>
      </dgm:prSet>
      <dgm:spPr/>
      <dgm:t>
        <a:bodyPr/>
        <a:lstStyle/>
        <a:p>
          <a:endParaRPr lang="nl-BE"/>
        </a:p>
      </dgm:t>
    </dgm:pt>
    <dgm:pt modelId="{53EF4843-E0D0-4477-B6B8-859FEB4F6679}" type="pres">
      <dgm:prSet presAssocID="{E469237C-DEB0-4013-8A1D-FEFF6103441B}" presName="rootConnector3" presStyleLbl="asst2" presStyleIdx="1" presStyleCnt="3"/>
      <dgm:spPr/>
      <dgm:t>
        <a:bodyPr/>
        <a:lstStyle/>
        <a:p>
          <a:endParaRPr lang="nl-BE"/>
        </a:p>
      </dgm:t>
    </dgm:pt>
    <dgm:pt modelId="{8FC4CFA8-C8B8-4943-93BB-415FF551102D}" type="pres">
      <dgm:prSet presAssocID="{E469237C-DEB0-4013-8A1D-FEFF6103441B}" presName="hierChild6" presStyleCnt="0"/>
      <dgm:spPr/>
    </dgm:pt>
    <dgm:pt modelId="{7697731B-34F6-47DA-852D-9195778E9760}" type="pres">
      <dgm:prSet presAssocID="{E469237C-DEB0-4013-8A1D-FEFF6103441B}" presName="hierChild7" presStyleCnt="0"/>
      <dgm:spPr/>
    </dgm:pt>
    <dgm:pt modelId="{84334C4D-9EA3-4D39-80B4-6AD7DB90E926}" type="pres">
      <dgm:prSet presAssocID="{2F8A56E5-ADD9-4B4D-93F2-1419249E743B}" presName="Name111" presStyleLbl="parChTrans1D3" presStyleIdx="3" presStyleCnt="4"/>
      <dgm:spPr/>
      <dgm:t>
        <a:bodyPr/>
        <a:lstStyle/>
        <a:p>
          <a:endParaRPr lang="nl-BE"/>
        </a:p>
      </dgm:t>
    </dgm:pt>
    <dgm:pt modelId="{E53AFC0F-CD44-4FA6-8CC4-D918040A3AC2}" type="pres">
      <dgm:prSet presAssocID="{21B5759D-F2DB-49BA-AF32-0E7E67AB9C8A}" presName="hierRoot3" presStyleCnt="0">
        <dgm:presLayoutVars>
          <dgm:hierBranch val="init"/>
        </dgm:presLayoutVars>
      </dgm:prSet>
      <dgm:spPr/>
    </dgm:pt>
    <dgm:pt modelId="{35556C9F-E78D-44FA-B96D-95B1F7A788F6}" type="pres">
      <dgm:prSet presAssocID="{21B5759D-F2DB-49BA-AF32-0E7E67AB9C8A}" presName="rootComposite3" presStyleCnt="0"/>
      <dgm:spPr/>
    </dgm:pt>
    <dgm:pt modelId="{A5E3919C-62A9-40F7-B706-096635E5810D}" type="pres">
      <dgm:prSet presAssocID="{21B5759D-F2DB-49BA-AF32-0E7E67AB9C8A}" presName="rootText3" presStyleLbl="asst2" presStyleIdx="2" presStyleCnt="3" custScaleX="114874" custLinFactNeighborX="-1809" custLinFactNeighborY="-25149">
        <dgm:presLayoutVars>
          <dgm:chPref val="3"/>
        </dgm:presLayoutVars>
      </dgm:prSet>
      <dgm:spPr/>
      <dgm:t>
        <a:bodyPr/>
        <a:lstStyle/>
        <a:p>
          <a:endParaRPr lang="nl-BE"/>
        </a:p>
      </dgm:t>
    </dgm:pt>
    <dgm:pt modelId="{70C62374-E127-4683-BC3B-EAC0BCD771E4}" type="pres">
      <dgm:prSet presAssocID="{21B5759D-F2DB-49BA-AF32-0E7E67AB9C8A}" presName="rootConnector3" presStyleLbl="asst2" presStyleIdx="2" presStyleCnt="3"/>
      <dgm:spPr/>
      <dgm:t>
        <a:bodyPr/>
        <a:lstStyle/>
        <a:p>
          <a:endParaRPr lang="nl-BE"/>
        </a:p>
      </dgm:t>
    </dgm:pt>
    <dgm:pt modelId="{6A73D253-F829-41E9-B201-4799E8F15AA4}" type="pres">
      <dgm:prSet presAssocID="{21B5759D-F2DB-49BA-AF32-0E7E67AB9C8A}" presName="hierChild6" presStyleCnt="0"/>
      <dgm:spPr/>
    </dgm:pt>
    <dgm:pt modelId="{05AB64F2-E254-4A4E-A469-ED00FA6AC97B}" type="pres">
      <dgm:prSet presAssocID="{21B5759D-F2DB-49BA-AF32-0E7E67AB9C8A}" presName="hierChild7" presStyleCnt="0"/>
      <dgm:spPr/>
    </dgm:pt>
    <dgm:pt modelId="{E7B668EA-974D-4869-BE27-8E3EA8D4231A}" type="pres">
      <dgm:prSet presAssocID="{8C983C91-98CC-4EF4-A372-F34E2BA1EC46}" presName="Name37" presStyleLbl="parChTrans1D2" presStyleIdx="2" presStyleCnt="3"/>
      <dgm:spPr/>
      <dgm:t>
        <a:bodyPr/>
        <a:lstStyle/>
        <a:p>
          <a:endParaRPr lang="nl-BE"/>
        </a:p>
      </dgm:t>
    </dgm:pt>
    <dgm:pt modelId="{8F4A5CE5-4A05-4236-AF67-58E31503BDB0}" type="pres">
      <dgm:prSet presAssocID="{D48304F3-D246-4E75-A232-501C9278C56B}" presName="hierRoot2" presStyleCnt="0">
        <dgm:presLayoutVars>
          <dgm:hierBranch val="init"/>
        </dgm:presLayoutVars>
      </dgm:prSet>
      <dgm:spPr/>
    </dgm:pt>
    <dgm:pt modelId="{5139F039-BC4A-468E-9CF3-0D39A1CC317F}" type="pres">
      <dgm:prSet presAssocID="{D48304F3-D246-4E75-A232-501C9278C56B}" presName="rootComposite" presStyleCnt="0"/>
      <dgm:spPr/>
    </dgm:pt>
    <dgm:pt modelId="{5A439C2D-3A7B-4426-AA53-E5B808C69285}" type="pres">
      <dgm:prSet presAssocID="{D48304F3-D246-4E75-A232-501C9278C56B}" presName="rootText" presStyleLbl="node2" presStyleIdx="2" presStyleCnt="3" custScaleX="117825" custLinFactNeighborX="18431" custLinFactNeighborY="10188">
        <dgm:presLayoutVars>
          <dgm:chPref val="3"/>
        </dgm:presLayoutVars>
      </dgm:prSet>
      <dgm:spPr/>
      <dgm:t>
        <a:bodyPr/>
        <a:lstStyle/>
        <a:p>
          <a:endParaRPr lang="nl-BE"/>
        </a:p>
      </dgm:t>
    </dgm:pt>
    <dgm:pt modelId="{D326632F-E681-47FF-960B-A9765DBD03AD}" type="pres">
      <dgm:prSet presAssocID="{D48304F3-D246-4E75-A232-501C9278C56B}" presName="rootConnector" presStyleLbl="node2" presStyleIdx="2" presStyleCnt="3"/>
      <dgm:spPr/>
      <dgm:t>
        <a:bodyPr/>
        <a:lstStyle/>
        <a:p>
          <a:endParaRPr lang="nl-BE"/>
        </a:p>
      </dgm:t>
    </dgm:pt>
    <dgm:pt modelId="{DAB1D2B1-5F54-4CF9-8FC3-190FCF44F142}" type="pres">
      <dgm:prSet presAssocID="{D48304F3-D246-4E75-A232-501C9278C56B}" presName="hierChild4" presStyleCnt="0"/>
      <dgm:spPr/>
    </dgm:pt>
    <dgm:pt modelId="{BEF2E154-A1C3-44AA-9936-FF48F05B9A15}" type="pres">
      <dgm:prSet presAssocID="{D48304F3-D246-4E75-A232-501C9278C56B}" presName="hierChild5" presStyleCnt="0"/>
      <dgm:spPr/>
    </dgm:pt>
    <dgm:pt modelId="{1E2AAA90-1902-4BA3-83EA-A23BD90FA4A0}" type="pres">
      <dgm:prSet presAssocID="{DB5B1ECA-7687-45C7-A805-C8A8793408F8}" presName="hierChild3" presStyleCnt="0"/>
      <dgm:spPr/>
    </dgm:pt>
  </dgm:ptLst>
  <dgm:cxnLst>
    <dgm:cxn modelId="{4D66076F-8EFA-464C-995F-F982ADDB8B64}" srcId="{DB5B1ECA-7687-45C7-A805-C8A8793408F8}" destId="{5E74792C-35BA-4EDD-AC80-7B29D4517882}" srcOrd="1" destOrd="0" parTransId="{A9E974E9-4614-4906-ACAE-A010E39C5081}" sibTransId="{776B20CF-25C1-40D6-A729-1BA410994568}"/>
    <dgm:cxn modelId="{43BEE79C-B2CB-4238-9A50-0F69CC75102B}" type="presOf" srcId="{2F8A56E5-ADD9-4B4D-93F2-1419249E743B}" destId="{84334C4D-9EA3-4D39-80B4-6AD7DB90E926}" srcOrd="0" destOrd="0" presId="urn:microsoft.com/office/officeart/2005/8/layout/orgChart1"/>
    <dgm:cxn modelId="{B4C72C07-9F37-4118-B1C5-8D597D3E93A8}" type="presOf" srcId="{6C144C9F-49C0-4EE8-BD4B-B0DCAD77304E}" destId="{6D417400-516B-4B84-BED1-BC8C12186EB5}" srcOrd="0" destOrd="0" presId="urn:microsoft.com/office/officeart/2005/8/layout/orgChart1"/>
    <dgm:cxn modelId="{7E1D5483-F7E2-4010-BCEA-7F4ABB497A7C}" type="presOf" srcId="{1092C323-6422-4E7D-9468-6C596F3941C1}" destId="{91900FD2-AEC6-4032-89A7-471ADE5FA3B5}" srcOrd="1" destOrd="0" presId="urn:microsoft.com/office/officeart/2005/8/layout/orgChart1"/>
    <dgm:cxn modelId="{73C9D891-BCA3-46D1-8063-27C5885E9A38}" type="presOf" srcId="{8C983C91-98CC-4EF4-A372-F34E2BA1EC46}" destId="{E7B668EA-974D-4869-BE27-8E3EA8D4231A}" srcOrd="0" destOrd="0" presId="urn:microsoft.com/office/officeart/2005/8/layout/orgChart1"/>
    <dgm:cxn modelId="{9D57A611-91B4-4005-98D3-11E803CB5585}" type="presOf" srcId="{FB341DEA-7EA9-496C-B7EC-CD0C58750816}" destId="{8BAF2DB4-9095-4DA5-B12E-F3E83C1EFFAB}" srcOrd="0" destOrd="0" presId="urn:microsoft.com/office/officeart/2005/8/layout/orgChart1"/>
    <dgm:cxn modelId="{7992C86C-E073-4850-B5E8-6065893A7759}" type="presOf" srcId="{E469237C-DEB0-4013-8A1D-FEFF6103441B}" destId="{53EF4843-E0D0-4477-B6B8-859FEB4F6679}" srcOrd="1" destOrd="0" presId="urn:microsoft.com/office/officeart/2005/8/layout/orgChart1"/>
    <dgm:cxn modelId="{EBC66552-5AF7-4298-B078-493F52283AEB}" type="presOf" srcId="{45AFB9C8-7F52-4973-B59A-7130199F8004}" destId="{85DDA556-47AA-4A1C-8BD1-78765CAEB173}" srcOrd="0" destOrd="0" presId="urn:microsoft.com/office/officeart/2005/8/layout/orgChart1"/>
    <dgm:cxn modelId="{811A0619-EFC3-4411-9A33-3B1478DB0C08}" type="presOf" srcId="{A9E974E9-4614-4906-ACAE-A010E39C5081}" destId="{BAD275F6-814E-4DA1-97ED-BB0A1D1CAE1F}" srcOrd="0" destOrd="0" presId="urn:microsoft.com/office/officeart/2005/8/layout/orgChart1"/>
    <dgm:cxn modelId="{D9B6A7DF-5CE6-4739-AE23-724BE523CBA8}" type="presOf" srcId="{F3863314-B16C-42AE-A14C-9E5AC6AF24B4}" destId="{702E1C99-238F-4715-AB7E-D06EF2F97C4F}" srcOrd="0" destOrd="0" presId="urn:microsoft.com/office/officeart/2005/8/layout/orgChart1"/>
    <dgm:cxn modelId="{F1C303F6-B348-45B6-AC8D-F9D25A937FD8}" type="presOf" srcId="{5E74792C-35BA-4EDD-AC80-7B29D4517882}" destId="{339493FF-EAE7-4C2F-B1C0-513DA41CF859}" srcOrd="0" destOrd="0" presId="urn:microsoft.com/office/officeart/2005/8/layout/orgChart1"/>
    <dgm:cxn modelId="{99956883-5497-4298-BCCB-2DC4E7BE5A01}" type="presOf" srcId="{5E74792C-35BA-4EDD-AC80-7B29D4517882}" destId="{30BF4ABD-92E6-4CBC-BED0-E709D08A7C80}" srcOrd="1" destOrd="0" presId="urn:microsoft.com/office/officeart/2005/8/layout/orgChart1"/>
    <dgm:cxn modelId="{C58ECF18-91F0-4FAF-A1AF-98D1606658FC}" type="presOf" srcId="{A0DD894F-3C74-4397-AD1F-0527D46E69D5}" destId="{83DE8AA1-BA34-40CA-A4A9-650BE6BD0977}" srcOrd="1" destOrd="0" presId="urn:microsoft.com/office/officeart/2005/8/layout/orgChart1"/>
    <dgm:cxn modelId="{3FE0B3A1-66BB-4014-9ABA-9A1A3BB4BC60}" srcId="{5E74792C-35BA-4EDD-AC80-7B29D4517882}" destId="{FB341DEA-7EA9-496C-B7EC-CD0C58750816}" srcOrd="0" destOrd="0" parTransId="{F4D2F867-DBEA-4261-AF8C-B5511A0D16BE}" sibTransId="{8FEDB49F-1589-4545-BB79-5A7245F75343}"/>
    <dgm:cxn modelId="{CBC48A49-4724-4632-A695-0C870F8B38BE}" type="presOf" srcId="{21B5759D-F2DB-49BA-AF32-0E7E67AB9C8A}" destId="{A5E3919C-62A9-40F7-B706-096635E5810D}" srcOrd="0" destOrd="0" presId="urn:microsoft.com/office/officeart/2005/8/layout/orgChart1"/>
    <dgm:cxn modelId="{0BA29631-88C6-49E7-B38D-B1EA190E9FA5}" type="presOf" srcId="{A0DD894F-3C74-4397-AD1F-0527D46E69D5}" destId="{245E99A3-381B-4772-A2A5-7FD6BB5A52E9}" srcOrd="0" destOrd="0" presId="urn:microsoft.com/office/officeart/2005/8/layout/orgChart1"/>
    <dgm:cxn modelId="{B6C51AC4-C4EC-4C95-9C85-20A6E99AFA4D}" type="presOf" srcId="{B44D7A53-E847-4461-84A4-E148532894C9}" destId="{357FD443-7690-411F-BB27-51ABE7F541B8}" srcOrd="0" destOrd="0" presId="urn:microsoft.com/office/officeart/2005/8/layout/orgChart1"/>
    <dgm:cxn modelId="{955DBDD3-A33E-4290-9852-6F4A82DA2F32}" type="presOf" srcId="{DB5B1ECA-7687-45C7-A805-C8A8793408F8}" destId="{8392AC33-BB8D-40B8-B135-163D1BD4BEA7}" srcOrd="0" destOrd="0" presId="urn:microsoft.com/office/officeart/2005/8/layout/orgChart1"/>
    <dgm:cxn modelId="{931046D5-E949-4941-B281-82DF70A815AB}" type="presOf" srcId="{FB341DEA-7EA9-496C-B7EC-CD0C58750816}" destId="{56415F4E-DB33-44FB-9102-98B986B7E96E}" srcOrd="1" destOrd="0" presId="urn:microsoft.com/office/officeart/2005/8/layout/orgChart1"/>
    <dgm:cxn modelId="{E7E7107D-0C15-43EE-A247-DA46BD5395C6}" type="presOf" srcId="{DB5B1ECA-7687-45C7-A805-C8A8793408F8}" destId="{6CD85B65-88C4-44E1-8705-EE4ADACB5972}" srcOrd="1" destOrd="0" presId="urn:microsoft.com/office/officeart/2005/8/layout/orgChart1"/>
    <dgm:cxn modelId="{A3F8E3DC-B769-4864-BF39-4D0374188AC1}" srcId="{5E74792C-35BA-4EDD-AC80-7B29D4517882}" destId="{E469237C-DEB0-4013-8A1D-FEFF6103441B}" srcOrd="2" destOrd="0" parTransId="{45AFB9C8-7F52-4973-B59A-7130199F8004}" sibTransId="{7EC5EE06-4325-4A37-A66C-B8ECC27D1AAF}"/>
    <dgm:cxn modelId="{DC947E5C-47C4-46F9-8EC7-E6AB56F259BD}" srcId="{5E74792C-35BA-4EDD-AC80-7B29D4517882}" destId="{21B5759D-F2DB-49BA-AF32-0E7E67AB9C8A}" srcOrd="3" destOrd="0" parTransId="{2F8A56E5-ADD9-4B4D-93F2-1419249E743B}" sibTransId="{45A10F03-8898-42A5-AC65-DB325CBFB513}"/>
    <dgm:cxn modelId="{F7BD7959-2C15-4A17-B3E9-DA2630C342FC}" type="presOf" srcId="{1092C323-6422-4E7D-9468-6C596F3941C1}" destId="{6F502359-5983-4113-8A9F-3B89A5A07CD3}" srcOrd="0" destOrd="0" presId="urn:microsoft.com/office/officeart/2005/8/layout/orgChart1"/>
    <dgm:cxn modelId="{26E4178C-F9C7-4571-A4DE-CC260A2A7C1D}" type="presOf" srcId="{D48304F3-D246-4E75-A232-501C9278C56B}" destId="{D326632F-E681-47FF-960B-A9765DBD03AD}" srcOrd="1" destOrd="0" presId="urn:microsoft.com/office/officeart/2005/8/layout/orgChart1"/>
    <dgm:cxn modelId="{3FC7E87A-400A-42E1-BCF2-7AB09A6CF00F}" srcId="{DB5B1ECA-7687-45C7-A805-C8A8793408F8}" destId="{A0DD894F-3C74-4397-AD1F-0527D46E69D5}" srcOrd="0" destOrd="0" parTransId="{F3863314-B16C-42AE-A14C-9E5AC6AF24B4}" sibTransId="{4B09C15B-9680-4CB3-85D9-B20C8ADE3486}"/>
    <dgm:cxn modelId="{BBF077AD-0A90-44D8-89BB-95C691C90BB3}" type="presOf" srcId="{21B5759D-F2DB-49BA-AF32-0E7E67AB9C8A}" destId="{70C62374-E127-4683-BC3B-EAC0BCD771E4}" srcOrd="1" destOrd="0" presId="urn:microsoft.com/office/officeart/2005/8/layout/orgChart1"/>
    <dgm:cxn modelId="{C509C57C-E268-49F8-8D17-3F865F5BA3AF}" type="presOf" srcId="{F4D2F867-DBEA-4261-AF8C-B5511A0D16BE}" destId="{FF01E3BC-3A69-44B6-BA9D-F7BD4A65901D}" srcOrd="0" destOrd="0" presId="urn:microsoft.com/office/officeart/2005/8/layout/orgChart1"/>
    <dgm:cxn modelId="{7B67CAD2-22A9-444D-8691-0B4AF1E113E8}" type="presOf" srcId="{E469237C-DEB0-4013-8A1D-FEFF6103441B}" destId="{32AB50FF-C4D6-43B5-9784-8C0BBCB982F5}" srcOrd="0" destOrd="0" presId="urn:microsoft.com/office/officeart/2005/8/layout/orgChart1"/>
    <dgm:cxn modelId="{DD29D3F2-BDAB-435D-9250-D60A19F44B13}" type="presOf" srcId="{D48304F3-D246-4E75-A232-501C9278C56B}" destId="{5A439C2D-3A7B-4426-AA53-E5B808C69285}" srcOrd="0" destOrd="0" presId="urn:microsoft.com/office/officeart/2005/8/layout/orgChart1"/>
    <dgm:cxn modelId="{10D47B01-C762-48B7-8E58-A87CF0DD4E49}" srcId="{B44D7A53-E847-4461-84A4-E148532894C9}" destId="{DB5B1ECA-7687-45C7-A805-C8A8793408F8}" srcOrd="0" destOrd="0" parTransId="{7A2A0B36-66E8-406A-B723-C257F7F4D40D}" sibTransId="{4E0DDFB3-B8AD-41F2-B5EF-83F8F5800739}"/>
    <dgm:cxn modelId="{65179EEF-8EC0-46D9-8878-DC836CEE9C85}" srcId="{DB5B1ECA-7687-45C7-A805-C8A8793408F8}" destId="{D48304F3-D246-4E75-A232-501C9278C56B}" srcOrd="2" destOrd="0" parTransId="{8C983C91-98CC-4EF4-A372-F34E2BA1EC46}" sibTransId="{2A1E37AF-DED4-49D6-9FF0-F8C9CB057002}"/>
    <dgm:cxn modelId="{9D2D9FE4-CDAC-4E96-9398-CCF972201CFC}" srcId="{5E74792C-35BA-4EDD-AC80-7B29D4517882}" destId="{1092C323-6422-4E7D-9468-6C596F3941C1}" srcOrd="1" destOrd="0" parTransId="{6C144C9F-49C0-4EE8-BD4B-B0DCAD77304E}" sibTransId="{64C8FF9B-F411-4630-BDCC-88B459640720}"/>
    <dgm:cxn modelId="{B6693538-DB15-4206-A74E-EA3C081DB3E5}" type="presParOf" srcId="{357FD443-7690-411F-BB27-51ABE7F541B8}" destId="{F0A82FBB-0830-465A-8CF2-398365261A8E}" srcOrd="0" destOrd="0" presId="urn:microsoft.com/office/officeart/2005/8/layout/orgChart1"/>
    <dgm:cxn modelId="{8D04979A-4F39-41D4-BE10-F9A17EAF98AF}" type="presParOf" srcId="{F0A82FBB-0830-465A-8CF2-398365261A8E}" destId="{FB752BD4-187E-46AB-A2F8-E9C0BC186B1B}" srcOrd="0" destOrd="0" presId="urn:microsoft.com/office/officeart/2005/8/layout/orgChart1"/>
    <dgm:cxn modelId="{E0D9BB6B-A9DA-4D50-A110-ED7C46E30659}" type="presParOf" srcId="{FB752BD4-187E-46AB-A2F8-E9C0BC186B1B}" destId="{8392AC33-BB8D-40B8-B135-163D1BD4BEA7}" srcOrd="0" destOrd="0" presId="urn:microsoft.com/office/officeart/2005/8/layout/orgChart1"/>
    <dgm:cxn modelId="{5646D531-3F97-483E-9B48-3FF4596A022C}" type="presParOf" srcId="{FB752BD4-187E-46AB-A2F8-E9C0BC186B1B}" destId="{6CD85B65-88C4-44E1-8705-EE4ADACB5972}" srcOrd="1" destOrd="0" presId="urn:microsoft.com/office/officeart/2005/8/layout/orgChart1"/>
    <dgm:cxn modelId="{D3CD3C43-D91B-4D00-9919-9498BBD97817}" type="presParOf" srcId="{F0A82FBB-0830-465A-8CF2-398365261A8E}" destId="{958851DC-2A7C-4D81-ABA2-EB5D85613369}" srcOrd="1" destOrd="0" presId="urn:microsoft.com/office/officeart/2005/8/layout/orgChart1"/>
    <dgm:cxn modelId="{51B73362-F055-4260-B142-331C459E2DBC}" type="presParOf" srcId="{958851DC-2A7C-4D81-ABA2-EB5D85613369}" destId="{702E1C99-238F-4715-AB7E-D06EF2F97C4F}" srcOrd="0" destOrd="0" presId="urn:microsoft.com/office/officeart/2005/8/layout/orgChart1"/>
    <dgm:cxn modelId="{201E8874-711A-402F-8252-F8FF2EC71AB1}" type="presParOf" srcId="{958851DC-2A7C-4D81-ABA2-EB5D85613369}" destId="{F39F0760-68A0-485F-AA69-D5DE96C683C0}" srcOrd="1" destOrd="0" presId="urn:microsoft.com/office/officeart/2005/8/layout/orgChart1"/>
    <dgm:cxn modelId="{436DCA52-4120-4C5E-94C9-DF360F11A571}" type="presParOf" srcId="{F39F0760-68A0-485F-AA69-D5DE96C683C0}" destId="{4DB1705F-DA9D-4CFE-85A7-1156CB8FD9BA}" srcOrd="0" destOrd="0" presId="urn:microsoft.com/office/officeart/2005/8/layout/orgChart1"/>
    <dgm:cxn modelId="{C1ABF3C2-45C4-4CAA-84B4-D6081AC9E2BD}" type="presParOf" srcId="{4DB1705F-DA9D-4CFE-85A7-1156CB8FD9BA}" destId="{245E99A3-381B-4772-A2A5-7FD6BB5A52E9}" srcOrd="0" destOrd="0" presId="urn:microsoft.com/office/officeart/2005/8/layout/orgChart1"/>
    <dgm:cxn modelId="{3AA8ED1C-F117-457A-8531-F14AD660352D}" type="presParOf" srcId="{4DB1705F-DA9D-4CFE-85A7-1156CB8FD9BA}" destId="{83DE8AA1-BA34-40CA-A4A9-650BE6BD0977}" srcOrd="1" destOrd="0" presId="urn:microsoft.com/office/officeart/2005/8/layout/orgChart1"/>
    <dgm:cxn modelId="{7F2108FB-80CD-43F3-8747-0093C4EE6643}" type="presParOf" srcId="{F39F0760-68A0-485F-AA69-D5DE96C683C0}" destId="{824B2D3C-0D9B-47D7-8F04-4CB30E022241}" srcOrd="1" destOrd="0" presId="urn:microsoft.com/office/officeart/2005/8/layout/orgChart1"/>
    <dgm:cxn modelId="{0D512A8A-ED1E-4FEF-8A06-B7087F39B886}" type="presParOf" srcId="{F39F0760-68A0-485F-AA69-D5DE96C683C0}" destId="{C727F2A9-D6C2-4D87-B5BC-F44D1400ABA0}" srcOrd="2" destOrd="0" presId="urn:microsoft.com/office/officeart/2005/8/layout/orgChart1"/>
    <dgm:cxn modelId="{FF8F18B7-088D-44DF-8AC1-89CC5695E6F3}" type="presParOf" srcId="{958851DC-2A7C-4D81-ABA2-EB5D85613369}" destId="{BAD275F6-814E-4DA1-97ED-BB0A1D1CAE1F}" srcOrd="2" destOrd="0" presId="urn:microsoft.com/office/officeart/2005/8/layout/orgChart1"/>
    <dgm:cxn modelId="{2C0DCA0E-4CE7-4255-B690-2BE3142E5E2B}" type="presParOf" srcId="{958851DC-2A7C-4D81-ABA2-EB5D85613369}" destId="{4F96262A-0B8A-4810-BD64-7FD5DDD93A56}" srcOrd="3" destOrd="0" presId="urn:microsoft.com/office/officeart/2005/8/layout/orgChart1"/>
    <dgm:cxn modelId="{49FB5810-1EB3-438D-9021-E97084AE8188}" type="presParOf" srcId="{4F96262A-0B8A-4810-BD64-7FD5DDD93A56}" destId="{6EB972FA-EC16-426E-8647-009CA1B84AE1}" srcOrd="0" destOrd="0" presId="urn:microsoft.com/office/officeart/2005/8/layout/orgChart1"/>
    <dgm:cxn modelId="{E2E74CCB-52E1-4CD4-B0E5-9C6804E72079}" type="presParOf" srcId="{6EB972FA-EC16-426E-8647-009CA1B84AE1}" destId="{339493FF-EAE7-4C2F-B1C0-513DA41CF859}" srcOrd="0" destOrd="0" presId="urn:microsoft.com/office/officeart/2005/8/layout/orgChart1"/>
    <dgm:cxn modelId="{E1F47474-298A-49C4-BF3F-1309724773CD}" type="presParOf" srcId="{6EB972FA-EC16-426E-8647-009CA1B84AE1}" destId="{30BF4ABD-92E6-4CBC-BED0-E709D08A7C80}" srcOrd="1" destOrd="0" presId="urn:microsoft.com/office/officeart/2005/8/layout/orgChart1"/>
    <dgm:cxn modelId="{7C7EC256-044B-45BA-BF5D-742DBAC0455B}" type="presParOf" srcId="{4F96262A-0B8A-4810-BD64-7FD5DDD93A56}" destId="{A805B0D1-29E9-4496-A34B-C1B9440E44AD}" srcOrd="1" destOrd="0" presId="urn:microsoft.com/office/officeart/2005/8/layout/orgChart1"/>
    <dgm:cxn modelId="{A271CB56-6325-4BE1-B669-8888071D782C}" type="presParOf" srcId="{A805B0D1-29E9-4496-A34B-C1B9440E44AD}" destId="{FF01E3BC-3A69-44B6-BA9D-F7BD4A65901D}" srcOrd="0" destOrd="0" presId="urn:microsoft.com/office/officeart/2005/8/layout/orgChart1"/>
    <dgm:cxn modelId="{79297AE5-9C10-4441-A917-F354C64F44F1}" type="presParOf" srcId="{A805B0D1-29E9-4496-A34B-C1B9440E44AD}" destId="{A49F7494-359A-4BE8-B20D-2947B2A3CE44}" srcOrd="1" destOrd="0" presId="urn:microsoft.com/office/officeart/2005/8/layout/orgChart1"/>
    <dgm:cxn modelId="{73717064-BEAE-4D7F-AD08-594275FBFE44}" type="presParOf" srcId="{A49F7494-359A-4BE8-B20D-2947B2A3CE44}" destId="{A72D365F-9C3E-4C6E-8F5C-75EE5A60A860}" srcOrd="0" destOrd="0" presId="urn:microsoft.com/office/officeart/2005/8/layout/orgChart1"/>
    <dgm:cxn modelId="{A5264E13-8BD7-4FB2-8B81-0ED0500A90C3}" type="presParOf" srcId="{A72D365F-9C3E-4C6E-8F5C-75EE5A60A860}" destId="{8BAF2DB4-9095-4DA5-B12E-F3E83C1EFFAB}" srcOrd="0" destOrd="0" presId="urn:microsoft.com/office/officeart/2005/8/layout/orgChart1"/>
    <dgm:cxn modelId="{D6E3BDEB-FA7C-4E04-956E-A4275946595F}" type="presParOf" srcId="{A72D365F-9C3E-4C6E-8F5C-75EE5A60A860}" destId="{56415F4E-DB33-44FB-9102-98B986B7E96E}" srcOrd="1" destOrd="0" presId="urn:microsoft.com/office/officeart/2005/8/layout/orgChart1"/>
    <dgm:cxn modelId="{E4BC4B5E-0718-4088-A41A-3B20B65ADF12}" type="presParOf" srcId="{A49F7494-359A-4BE8-B20D-2947B2A3CE44}" destId="{C0F1649E-DE76-4FFC-8AB1-B2F4504C9042}" srcOrd="1" destOrd="0" presId="urn:microsoft.com/office/officeart/2005/8/layout/orgChart1"/>
    <dgm:cxn modelId="{3F6351B7-19DD-4A45-ABA9-88A11B04F729}" type="presParOf" srcId="{A49F7494-359A-4BE8-B20D-2947B2A3CE44}" destId="{AB620481-AEB0-4AF9-8988-C7EFEE305723}" srcOrd="2" destOrd="0" presId="urn:microsoft.com/office/officeart/2005/8/layout/orgChart1"/>
    <dgm:cxn modelId="{11B026CC-6AB4-490B-978D-FE768B44E0DE}" type="presParOf" srcId="{4F96262A-0B8A-4810-BD64-7FD5DDD93A56}" destId="{CE896000-A36D-4AA7-A385-7EC9612C45D9}" srcOrd="2" destOrd="0" presId="urn:microsoft.com/office/officeart/2005/8/layout/orgChart1"/>
    <dgm:cxn modelId="{C1FB19FA-5E1B-462E-B867-B94E1B8A4E47}" type="presParOf" srcId="{CE896000-A36D-4AA7-A385-7EC9612C45D9}" destId="{6D417400-516B-4B84-BED1-BC8C12186EB5}" srcOrd="0" destOrd="0" presId="urn:microsoft.com/office/officeart/2005/8/layout/orgChart1"/>
    <dgm:cxn modelId="{7F381082-3737-4667-96A0-8DADA5072336}" type="presParOf" srcId="{CE896000-A36D-4AA7-A385-7EC9612C45D9}" destId="{E00E4FE2-EBAA-4D59-9292-E32951A89AB4}" srcOrd="1" destOrd="0" presId="urn:microsoft.com/office/officeart/2005/8/layout/orgChart1"/>
    <dgm:cxn modelId="{EB748A4B-F833-4EB0-8906-E675A881EBFB}" type="presParOf" srcId="{E00E4FE2-EBAA-4D59-9292-E32951A89AB4}" destId="{1B1CA692-33ED-4368-8572-D0820F446CAB}" srcOrd="0" destOrd="0" presId="urn:microsoft.com/office/officeart/2005/8/layout/orgChart1"/>
    <dgm:cxn modelId="{A6106484-A112-4F84-8280-DDC82DB8668E}" type="presParOf" srcId="{1B1CA692-33ED-4368-8572-D0820F446CAB}" destId="{6F502359-5983-4113-8A9F-3B89A5A07CD3}" srcOrd="0" destOrd="0" presId="urn:microsoft.com/office/officeart/2005/8/layout/orgChart1"/>
    <dgm:cxn modelId="{BD22917B-2377-4B96-B040-7611C9A844BC}" type="presParOf" srcId="{1B1CA692-33ED-4368-8572-D0820F446CAB}" destId="{91900FD2-AEC6-4032-89A7-471ADE5FA3B5}" srcOrd="1" destOrd="0" presId="urn:microsoft.com/office/officeart/2005/8/layout/orgChart1"/>
    <dgm:cxn modelId="{0511FB44-A5DA-4480-9120-C243000526D4}" type="presParOf" srcId="{E00E4FE2-EBAA-4D59-9292-E32951A89AB4}" destId="{21BBD383-254E-421E-A948-4DA9CE705732}" srcOrd="1" destOrd="0" presId="urn:microsoft.com/office/officeart/2005/8/layout/orgChart1"/>
    <dgm:cxn modelId="{AA5AA91F-8051-4272-B394-C0139768E2E1}" type="presParOf" srcId="{E00E4FE2-EBAA-4D59-9292-E32951A89AB4}" destId="{CD0E253C-7732-4FAD-9887-CAF5BA233F3D}" srcOrd="2" destOrd="0" presId="urn:microsoft.com/office/officeart/2005/8/layout/orgChart1"/>
    <dgm:cxn modelId="{13FF4343-0BA4-4AEF-A058-5F5888250E4B}" type="presParOf" srcId="{CE896000-A36D-4AA7-A385-7EC9612C45D9}" destId="{85DDA556-47AA-4A1C-8BD1-78765CAEB173}" srcOrd="2" destOrd="0" presId="urn:microsoft.com/office/officeart/2005/8/layout/orgChart1"/>
    <dgm:cxn modelId="{142DDEA6-FDE0-425E-BAD5-AA207D6772F6}" type="presParOf" srcId="{CE896000-A36D-4AA7-A385-7EC9612C45D9}" destId="{12699411-A920-4F7F-B488-537B173202FB}" srcOrd="3" destOrd="0" presId="urn:microsoft.com/office/officeart/2005/8/layout/orgChart1"/>
    <dgm:cxn modelId="{9414FDBA-49AA-4167-AB83-F6465F7F80CC}" type="presParOf" srcId="{12699411-A920-4F7F-B488-537B173202FB}" destId="{6DF39787-BC6B-4129-B9A0-EE4213676743}" srcOrd="0" destOrd="0" presId="urn:microsoft.com/office/officeart/2005/8/layout/orgChart1"/>
    <dgm:cxn modelId="{E93EA58B-BBAC-46D8-9883-C5F1FA0241A5}" type="presParOf" srcId="{6DF39787-BC6B-4129-B9A0-EE4213676743}" destId="{32AB50FF-C4D6-43B5-9784-8C0BBCB982F5}" srcOrd="0" destOrd="0" presId="urn:microsoft.com/office/officeart/2005/8/layout/orgChart1"/>
    <dgm:cxn modelId="{CF736C00-B480-4AD4-AD36-50B539CEDB4C}" type="presParOf" srcId="{6DF39787-BC6B-4129-B9A0-EE4213676743}" destId="{53EF4843-E0D0-4477-B6B8-859FEB4F6679}" srcOrd="1" destOrd="0" presId="urn:microsoft.com/office/officeart/2005/8/layout/orgChart1"/>
    <dgm:cxn modelId="{AA8F90E3-C468-4495-B9E0-AE4D8DA05E8A}" type="presParOf" srcId="{12699411-A920-4F7F-B488-537B173202FB}" destId="{8FC4CFA8-C8B8-4943-93BB-415FF551102D}" srcOrd="1" destOrd="0" presId="urn:microsoft.com/office/officeart/2005/8/layout/orgChart1"/>
    <dgm:cxn modelId="{50645653-E8CB-4610-A604-5DF26C9846EB}" type="presParOf" srcId="{12699411-A920-4F7F-B488-537B173202FB}" destId="{7697731B-34F6-47DA-852D-9195778E9760}" srcOrd="2" destOrd="0" presId="urn:microsoft.com/office/officeart/2005/8/layout/orgChart1"/>
    <dgm:cxn modelId="{D6BBA2F7-D187-4647-8674-E79B99AB3B00}" type="presParOf" srcId="{CE896000-A36D-4AA7-A385-7EC9612C45D9}" destId="{84334C4D-9EA3-4D39-80B4-6AD7DB90E926}" srcOrd="4" destOrd="0" presId="urn:microsoft.com/office/officeart/2005/8/layout/orgChart1"/>
    <dgm:cxn modelId="{D625E472-6784-45EF-8974-96C2AF899E98}" type="presParOf" srcId="{CE896000-A36D-4AA7-A385-7EC9612C45D9}" destId="{E53AFC0F-CD44-4FA6-8CC4-D918040A3AC2}" srcOrd="5" destOrd="0" presId="urn:microsoft.com/office/officeart/2005/8/layout/orgChart1"/>
    <dgm:cxn modelId="{A573D344-36EF-4AE4-B8EE-8C6BB7BE69A6}" type="presParOf" srcId="{E53AFC0F-CD44-4FA6-8CC4-D918040A3AC2}" destId="{35556C9F-E78D-44FA-B96D-95B1F7A788F6}" srcOrd="0" destOrd="0" presId="urn:microsoft.com/office/officeart/2005/8/layout/orgChart1"/>
    <dgm:cxn modelId="{DC57A672-F508-442F-9F37-96FE35C9F875}" type="presParOf" srcId="{35556C9F-E78D-44FA-B96D-95B1F7A788F6}" destId="{A5E3919C-62A9-40F7-B706-096635E5810D}" srcOrd="0" destOrd="0" presId="urn:microsoft.com/office/officeart/2005/8/layout/orgChart1"/>
    <dgm:cxn modelId="{54DABC1F-34DA-48CE-B299-633BC5EE9150}" type="presParOf" srcId="{35556C9F-E78D-44FA-B96D-95B1F7A788F6}" destId="{70C62374-E127-4683-BC3B-EAC0BCD771E4}" srcOrd="1" destOrd="0" presId="urn:microsoft.com/office/officeart/2005/8/layout/orgChart1"/>
    <dgm:cxn modelId="{B5BFDE3B-0C06-4CCD-B2BA-CD69C984C449}" type="presParOf" srcId="{E53AFC0F-CD44-4FA6-8CC4-D918040A3AC2}" destId="{6A73D253-F829-41E9-B201-4799E8F15AA4}" srcOrd="1" destOrd="0" presId="urn:microsoft.com/office/officeart/2005/8/layout/orgChart1"/>
    <dgm:cxn modelId="{473D2E85-1DA3-4D8B-8AD5-5ED217047D4C}" type="presParOf" srcId="{E53AFC0F-CD44-4FA6-8CC4-D918040A3AC2}" destId="{05AB64F2-E254-4A4E-A469-ED00FA6AC97B}" srcOrd="2" destOrd="0" presId="urn:microsoft.com/office/officeart/2005/8/layout/orgChart1"/>
    <dgm:cxn modelId="{6CA6F274-86F9-46E6-880C-3B6C44AB1C04}" type="presParOf" srcId="{958851DC-2A7C-4D81-ABA2-EB5D85613369}" destId="{E7B668EA-974D-4869-BE27-8E3EA8D4231A}" srcOrd="4" destOrd="0" presId="urn:microsoft.com/office/officeart/2005/8/layout/orgChart1"/>
    <dgm:cxn modelId="{99527D7A-5066-4676-B74A-6514B2218262}" type="presParOf" srcId="{958851DC-2A7C-4D81-ABA2-EB5D85613369}" destId="{8F4A5CE5-4A05-4236-AF67-58E31503BDB0}" srcOrd="5" destOrd="0" presId="urn:microsoft.com/office/officeart/2005/8/layout/orgChart1"/>
    <dgm:cxn modelId="{049B68E9-55BF-4F3A-B676-785DBDE97F42}" type="presParOf" srcId="{8F4A5CE5-4A05-4236-AF67-58E31503BDB0}" destId="{5139F039-BC4A-468E-9CF3-0D39A1CC317F}" srcOrd="0" destOrd="0" presId="urn:microsoft.com/office/officeart/2005/8/layout/orgChart1"/>
    <dgm:cxn modelId="{5A8655AE-180D-476D-A25D-644CEF7B3B60}" type="presParOf" srcId="{5139F039-BC4A-468E-9CF3-0D39A1CC317F}" destId="{5A439C2D-3A7B-4426-AA53-E5B808C69285}" srcOrd="0" destOrd="0" presId="urn:microsoft.com/office/officeart/2005/8/layout/orgChart1"/>
    <dgm:cxn modelId="{DE912C07-87B0-4A7C-97AE-592D683DF944}" type="presParOf" srcId="{5139F039-BC4A-468E-9CF3-0D39A1CC317F}" destId="{D326632F-E681-47FF-960B-A9765DBD03AD}" srcOrd="1" destOrd="0" presId="urn:microsoft.com/office/officeart/2005/8/layout/orgChart1"/>
    <dgm:cxn modelId="{8D893855-0EB9-4508-BD36-3CF5E5A965CA}" type="presParOf" srcId="{8F4A5CE5-4A05-4236-AF67-58E31503BDB0}" destId="{DAB1D2B1-5F54-4CF9-8FC3-190FCF44F142}" srcOrd="1" destOrd="0" presId="urn:microsoft.com/office/officeart/2005/8/layout/orgChart1"/>
    <dgm:cxn modelId="{40CF8F09-A2EA-4FDD-9247-FD46044976E4}" type="presParOf" srcId="{8F4A5CE5-4A05-4236-AF67-58E31503BDB0}" destId="{BEF2E154-A1C3-44AA-9936-FF48F05B9A15}" srcOrd="2" destOrd="0" presId="urn:microsoft.com/office/officeart/2005/8/layout/orgChart1"/>
    <dgm:cxn modelId="{855DFFC0-12F3-4973-93EA-D0B43365FBE3}" type="presParOf" srcId="{F0A82FBB-0830-465A-8CF2-398365261A8E}" destId="{1E2AAA90-1902-4BA3-83EA-A23BD90FA4A0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B668EA-974D-4869-BE27-8E3EA8D4231A}">
      <dsp:nvSpPr>
        <dsp:cNvPr id="0" name=""/>
        <dsp:cNvSpPr/>
      </dsp:nvSpPr>
      <dsp:spPr>
        <a:xfrm>
          <a:off x="4109470" y="968173"/>
          <a:ext cx="2979374" cy="51193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8614"/>
              </a:lnTo>
              <a:lnTo>
                <a:pt x="2979374" y="308614"/>
              </a:lnTo>
              <a:lnTo>
                <a:pt x="2979374" y="511931"/>
              </a:lnTo>
            </a:path>
          </a:pathLst>
        </a:custGeom>
        <a:noFill/>
        <a:ln w="28575" cap="flat" cmpd="sng" algn="ctr">
          <a:solidFill>
            <a:schemeClr val="bg1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4334C4D-9EA3-4D39-80B4-6AD7DB90E926}">
      <dsp:nvSpPr>
        <dsp:cNvPr id="0" name=""/>
        <dsp:cNvSpPr/>
      </dsp:nvSpPr>
      <dsp:spPr>
        <a:xfrm>
          <a:off x="3816418" y="2448277"/>
          <a:ext cx="306233" cy="1923402"/>
        </a:xfrm>
        <a:custGeom>
          <a:avLst/>
          <a:gdLst/>
          <a:ahLst/>
          <a:cxnLst/>
          <a:rect l="0" t="0" r="0" b="0"/>
          <a:pathLst>
            <a:path>
              <a:moveTo>
                <a:pt x="306233" y="0"/>
              </a:moveTo>
              <a:lnTo>
                <a:pt x="306233" y="1923402"/>
              </a:lnTo>
              <a:lnTo>
                <a:pt x="0" y="1923402"/>
              </a:lnTo>
            </a:path>
          </a:pathLst>
        </a:custGeom>
        <a:noFill/>
        <a:ln w="28575" cap="flat" cmpd="sng" algn="ctr">
          <a:solidFill>
            <a:srgbClr val="0070C0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5DDA556-47AA-4A1C-8BD1-78765CAEB173}">
      <dsp:nvSpPr>
        <dsp:cNvPr id="0" name=""/>
        <dsp:cNvSpPr/>
      </dsp:nvSpPr>
      <dsp:spPr>
        <a:xfrm>
          <a:off x="4122651" y="2448277"/>
          <a:ext cx="334000" cy="59565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95659"/>
              </a:lnTo>
              <a:lnTo>
                <a:pt x="334000" y="595659"/>
              </a:lnTo>
            </a:path>
          </a:pathLst>
        </a:custGeom>
        <a:noFill/>
        <a:ln w="28575" cap="flat" cmpd="sng" algn="ctr">
          <a:solidFill>
            <a:srgbClr val="0070C0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D417400-516B-4B84-BED1-BC8C12186EB5}">
      <dsp:nvSpPr>
        <dsp:cNvPr id="0" name=""/>
        <dsp:cNvSpPr/>
      </dsp:nvSpPr>
      <dsp:spPr>
        <a:xfrm>
          <a:off x="3816418" y="2448277"/>
          <a:ext cx="306233" cy="596026"/>
        </a:xfrm>
        <a:custGeom>
          <a:avLst/>
          <a:gdLst/>
          <a:ahLst/>
          <a:cxnLst/>
          <a:rect l="0" t="0" r="0" b="0"/>
          <a:pathLst>
            <a:path>
              <a:moveTo>
                <a:pt x="306233" y="0"/>
              </a:moveTo>
              <a:lnTo>
                <a:pt x="306233" y="596026"/>
              </a:lnTo>
              <a:lnTo>
                <a:pt x="0" y="596026"/>
              </a:lnTo>
            </a:path>
          </a:pathLst>
        </a:custGeom>
        <a:noFill/>
        <a:ln w="28575" cap="flat" cmpd="sng" algn="ctr">
          <a:solidFill>
            <a:srgbClr val="0070C0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F01E3BC-3A69-44B6-BA9D-F7BD4A65901D}">
      <dsp:nvSpPr>
        <dsp:cNvPr id="0" name=""/>
        <dsp:cNvSpPr/>
      </dsp:nvSpPr>
      <dsp:spPr>
        <a:xfrm>
          <a:off x="4122651" y="2448277"/>
          <a:ext cx="341851" cy="192424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24244"/>
              </a:lnTo>
              <a:lnTo>
                <a:pt x="341851" y="1924244"/>
              </a:lnTo>
            </a:path>
          </a:pathLst>
        </a:custGeom>
        <a:noFill/>
        <a:ln w="28575" cap="flat" cmpd="sng" algn="ctr">
          <a:solidFill>
            <a:srgbClr val="0070C0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AD275F6-814E-4DA1-97ED-BB0A1D1CAE1F}">
      <dsp:nvSpPr>
        <dsp:cNvPr id="0" name=""/>
        <dsp:cNvSpPr/>
      </dsp:nvSpPr>
      <dsp:spPr>
        <a:xfrm>
          <a:off x="4063750" y="968173"/>
          <a:ext cx="91440" cy="51193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08614"/>
              </a:lnTo>
              <a:lnTo>
                <a:pt x="58901" y="308614"/>
              </a:lnTo>
              <a:lnTo>
                <a:pt x="58901" y="511931"/>
              </a:lnTo>
            </a:path>
          </a:pathLst>
        </a:custGeom>
        <a:noFill/>
        <a:ln w="28575" cap="flat" cmpd="sng" algn="ctr">
          <a:solidFill>
            <a:schemeClr val="bg1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02E1C99-238F-4715-AB7E-D06EF2F97C4F}">
      <dsp:nvSpPr>
        <dsp:cNvPr id="0" name=""/>
        <dsp:cNvSpPr/>
      </dsp:nvSpPr>
      <dsp:spPr>
        <a:xfrm>
          <a:off x="1112203" y="968173"/>
          <a:ext cx="2997266" cy="511931"/>
        </a:xfrm>
        <a:custGeom>
          <a:avLst/>
          <a:gdLst/>
          <a:ahLst/>
          <a:cxnLst/>
          <a:rect l="0" t="0" r="0" b="0"/>
          <a:pathLst>
            <a:path>
              <a:moveTo>
                <a:pt x="2997266" y="0"/>
              </a:moveTo>
              <a:lnTo>
                <a:pt x="2997266" y="308614"/>
              </a:lnTo>
              <a:lnTo>
                <a:pt x="0" y="308614"/>
              </a:lnTo>
              <a:lnTo>
                <a:pt x="0" y="511931"/>
              </a:lnTo>
            </a:path>
          </a:pathLst>
        </a:custGeom>
        <a:noFill/>
        <a:ln w="28575" cap="flat" cmpd="sng" algn="ctr">
          <a:solidFill>
            <a:schemeClr val="bg1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392AC33-BB8D-40B8-B135-163D1BD4BEA7}">
      <dsp:nvSpPr>
        <dsp:cNvPr id="0" name=""/>
        <dsp:cNvSpPr/>
      </dsp:nvSpPr>
      <dsp:spPr>
        <a:xfrm>
          <a:off x="0" y="0"/>
          <a:ext cx="8218940" cy="96817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8575" cap="flat" cmpd="sng" algn="ctr">
          <a:solidFill>
            <a:srgbClr val="00B05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nl-BE" sz="2300" b="1" kern="1200" cap="small" baseline="0" dirty="0" smtClean="0">
              <a:solidFill>
                <a:srgbClr val="00B050"/>
              </a:solidFill>
              <a:latin typeface="+mj-lt"/>
              <a:cs typeface="Helvetica" panose="020B0604020202020204" pitchFamily="34" charset="0"/>
            </a:rPr>
            <a:t>Research Question</a:t>
          </a:r>
          <a:r>
            <a:rPr lang="nl-BE" sz="2300" b="1" kern="1200" dirty="0" smtClean="0">
              <a:solidFill>
                <a:srgbClr val="00B050"/>
              </a:solidFill>
              <a:latin typeface="+mj-lt"/>
              <a:cs typeface="Helvetica" panose="020B0604020202020204" pitchFamily="34" charset="0"/>
            </a:rPr>
            <a:t>: </a:t>
          </a:r>
          <a:r>
            <a:rPr lang="nl-BE" sz="2300" b="1" i="1" kern="1200" dirty="0" smtClean="0">
              <a:solidFill>
                <a:srgbClr val="00B050"/>
              </a:solidFill>
              <a:latin typeface="+mj-lt"/>
              <a:cs typeface="Helvetica" panose="020B0604020202020204" pitchFamily="34" charset="0"/>
            </a:rPr>
            <a:t>backstage</a:t>
          </a:r>
          <a:r>
            <a:rPr lang="nl-BE" sz="2300" b="1" kern="1200" dirty="0" smtClean="0">
              <a:solidFill>
                <a:srgbClr val="00B050"/>
              </a:solidFill>
              <a:latin typeface="+mj-lt"/>
              <a:cs typeface="Helvetica" panose="020B0604020202020204" pitchFamily="34" charset="0"/>
            </a:rPr>
            <a:t> </a:t>
          </a:r>
          <a:r>
            <a:rPr lang="nl-BE" sz="2300" b="1" kern="1200" dirty="0" err="1" smtClean="0">
              <a:solidFill>
                <a:srgbClr val="00B050"/>
              </a:solidFill>
              <a:latin typeface="+mj-lt"/>
              <a:cs typeface="Helvetica" panose="020B0604020202020204" pitchFamily="34" charset="0"/>
            </a:rPr>
            <a:t>production</a:t>
          </a:r>
          <a:r>
            <a:rPr lang="nl-BE" sz="2300" b="1" kern="1200" dirty="0" smtClean="0">
              <a:solidFill>
                <a:srgbClr val="00B050"/>
              </a:solidFill>
              <a:latin typeface="+mj-lt"/>
              <a:cs typeface="Helvetica" panose="020B0604020202020204" pitchFamily="34" charset="0"/>
            </a:rPr>
            <a:t> </a:t>
          </a:r>
          <a:r>
            <a:rPr lang="nl-BE" sz="2300" b="1" kern="1200" dirty="0" err="1" smtClean="0">
              <a:solidFill>
                <a:srgbClr val="00B050"/>
              </a:solidFill>
              <a:latin typeface="+mj-lt"/>
              <a:cs typeface="Helvetica" panose="020B0604020202020204" pitchFamily="34" charset="0"/>
            </a:rPr>
            <a:t>processes</a:t>
          </a:r>
          <a:r>
            <a:rPr lang="nl-BE" sz="2300" b="1" kern="1200" dirty="0" smtClean="0">
              <a:solidFill>
                <a:srgbClr val="00B050"/>
              </a:solidFill>
              <a:latin typeface="+mj-lt"/>
              <a:cs typeface="Helvetica" panose="020B0604020202020204" pitchFamily="34" charset="0"/>
            </a:rPr>
            <a:t> of </a:t>
          </a:r>
          <a:r>
            <a:rPr lang="nl-BE" sz="2300" b="1" kern="1200" dirty="0" err="1" smtClean="0">
              <a:solidFill>
                <a:srgbClr val="00B050"/>
              </a:solidFill>
              <a:latin typeface="+mj-lt"/>
              <a:cs typeface="Helvetica" panose="020B0604020202020204" pitchFamily="34" charset="0"/>
            </a:rPr>
            <a:t>elderly-related</a:t>
          </a:r>
          <a:r>
            <a:rPr lang="nl-BE" sz="2300" b="1" kern="1200" dirty="0" smtClean="0">
              <a:solidFill>
                <a:srgbClr val="00B050"/>
              </a:solidFill>
              <a:latin typeface="+mj-lt"/>
              <a:cs typeface="Helvetica" panose="020B0604020202020204" pitchFamily="34" charset="0"/>
            </a:rPr>
            <a:t> health </a:t>
          </a:r>
          <a:r>
            <a:rPr lang="nl-BE" sz="2300" b="1" kern="1200" dirty="0" err="1" smtClean="0">
              <a:solidFill>
                <a:srgbClr val="00B050"/>
              </a:solidFill>
              <a:latin typeface="+mj-lt"/>
              <a:cs typeface="Helvetica" panose="020B0604020202020204" pitchFamily="34" charset="0"/>
            </a:rPr>
            <a:t>news</a:t>
          </a:r>
          <a:r>
            <a:rPr lang="nl-BE" sz="2300" b="1" kern="1200" dirty="0" smtClean="0">
              <a:solidFill>
                <a:srgbClr val="00B050"/>
              </a:solidFill>
              <a:latin typeface="+mj-lt"/>
              <a:cs typeface="Helvetica" panose="020B0604020202020204" pitchFamily="34" charset="0"/>
            </a:rPr>
            <a:t>? </a:t>
          </a:r>
          <a:endParaRPr lang="nl-BE" sz="2300" kern="1200" dirty="0">
            <a:solidFill>
              <a:srgbClr val="00B050"/>
            </a:solidFill>
            <a:latin typeface="+mj-lt"/>
            <a:cs typeface="Helvetica" panose="020B0604020202020204" pitchFamily="34" charset="0"/>
          </a:endParaRPr>
        </a:p>
      </dsp:txBody>
      <dsp:txXfrm>
        <a:off x="0" y="0"/>
        <a:ext cx="8218940" cy="968173"/>
      </dsp:txXfrm>
    </dsp:sp>
    <dsp:sp modelId="{245E99A3-381B-4772-A2A5-7FD6BB5A52E9}">
      <dsp:nvSpPr>
        <dsp:cNvPr id="0" name=""/>
        <dsp:cNvSpPr/>
      </dsp:nvSpPr>
      <dsp:spPr>
        <a:xfrm>
          <a:off x="4" y="1480104"/>
          <a:ext cx="2224397" cy="96817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8575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nl-NL" sz="2300" b="1" kern="1200" cap="small" baseline="0" dirty="0" err="1" smtClean="0"/>
            <a:t>linguistic</a:t>
          </a:r>
          <a:r>
            <a:rPr lang="nl-NL" sz="2300" b="1" kern="1200" cap="small" baseline="0" dirty="0" smtClean="0"/>
            <a:t> </a:t>
          </a:r>
          <a:r>
            <a:rPr lang="nl-NL" sz="2300" b="1" kern="1200" cap="small" baseline="0" dirty="0" err="1" smtClean="0"/>
            <a:t>ethnography</a:t>
          </a:r>
          <a:endParaRPr lang="nl-BE" sz="2300" b="1" kern="1200" cap="small" baseline="0" dirty="0"/>
        </a:p>
      </dsp:txBody>
      <dsp:txXfrm>
        <a:off x="4" y="1480104"/>
        <a:ext cx="2224397" cy="968173"/>
      </dsp:txXfrm>
    </dsp:sp>
    <dsp:sp modelId="{339493FF-EAE7-4C2F-B1C0-513DA41CF859}">
      <dsp:nvSpPr>
        <dsp:cNvPr id="0" name=""/>
        <dsp:cNvSpPr/>
      </dsp:nvSpPr>
      <dsp:spPr>
        <a:xfrm>
          <a:off x="3024326" y="1480104"/>
          <a:ext cx="2196650" cy="96817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8575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nl-NL" sz="2300" b="1" kern="1200" cap="small" baseline="0" dirty="0" smtClean="0"/>
            <a:t>sites</a:t>
          </a:r>
          <a:endParaRPr lang="nl-BE" sz="2300" b="1" kern="1200" cap="small" baseline="0" dirty="0"/>
        </a:p>
      </dsp:txBody>
      <dsp:txXfrm>
        <a:off x="3024326" y="1480104"/>
        <a:ext cx="2196650" cy="968173"/>
      </dsp:txXfrm>
    </dsp:sp>
    <dsp:sp modelId="{8BAF2DB4-9095-4DA5-B12E-F3E83C1EFFAB}">
      <dsp:nvSpPr>
        <dsp:cNvPr id="0" name=""/>
        <dsp:cNvSpPr/>
      </dsp:nvSpPr>
      <dsp:spPr>
        <a:xfrm>
          <a:off x="4464503" y="3888435"/>
          <a:ext cx="2240101" cy="96817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8575" cap="flat" cmpd="sng" algn="ctr">
          <a:solidFill>
            <a:srgbClr val="0070C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nl-NL" sz="2300" b="1" kern="1200" cap="small" baseline="0" dirty="0" smtClean="0">
              <a:solidFill>
                <a:srgbClr val="0070C0"/>
              </a:solidFill>
            </a:rPr>
            <a:t>online blog or website</a:t>
          </a:r>
        </a:p>
      </dsp:txBody>
      <dsp:txXfrm>
        <a:off x="4464503" y="3888435"/>
        <a:ext cx="2240101" cy="968173"/>
      </dsp:txXfrm>
    </dsp:sp>
    <dsp:sp modelId="{6F502359-5983-4113-8A9F-3B89A5A07CD3}">
      <dsp:nvSpPr>
        <dsp:cNvPr id="0" name=""/>
        <dsp:cNvSpPr/>
      </dsp:nvSpPr>
      <dsp:spPr>
        <a:xfrm>
          <a:off x="1560574" y="2560218"/>
          <a:ext cx="2255844" cy="96817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8575" cap="flat" cmpd="sng" algn="ctr">
          <a:solidFill>
            <a:srgbClr val="0070C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nl-NL" sz="2300" b="1" kern="1200" cap="small" baseline="0" dirty="0" smtClean="0">
              <a:solidFill>
                <a:srgbClr val="0070C0"/>
              </a:solidFill>
            </a:rPr>
            <a:t>pr-</a:t>
          </a:r>
          <a:r>
            <a:rPr lang="nl-NL" sz="2300" b="1" kern="1200" cap="small" baseline="0" dirty="0" err="1" smtClean="0">
              <a:solidFill>
                <a:srgbClr val="0070C0"/>
              </a:solidFill>
            </a:rPr>
            <a:t>department</a:t>
          </a:r>
          <a:r>
            <a:rPr lang="nl-NL" sz="2300" b="1" kern="1200" cap="small" baseline="0" dirty="0" smtClean="0">
              <a:solidFill>
                <a:srgbClr val="0070C0"/>
              </a:solidFill>
            </a:rPr>
            <a:t> </a:t>
          </a:r>
          <a:r>
            <a:rPr lang="nl-NL" sz="2300" b="1" kern="1200" cap="small" baseline="0" dirty="0" err="1" smtClean="0">
              <a:solidFill>
                <a:srgbClr val="0070C0"/>
              </a:solidFill>
            </a:rPr>
            <a:t>pharmaceutical</a:t>
          </a:r>
          <a:r>
            <a:rPr lang="nl-NL" sz="2300" b="1" kern="1200" cap="small" baseline="0" dirty="0" smtClean="0">
              <a:solidFill>
                <a:srgbClr val="0070C0"/>
              </a:solidFill>
            </a:rPr>
            <a:t> company</a:t>
          </a:r>
        </a:p>
      </dsp:txBody>
      <dsp:txXfrm>
        <a:off x="1560574" y="2560218"/>
        <a:ext cx="2255844" cy="968173"/>
      </dsp:txXfrm>
    </dsp:sp>
    <dsp:sp modelId="{32AB50FF-C4D6-43B5-9784-8C0BBCB982F5}">
      <dsp:nvSpPr>
        <dsp:cNvPr id="0" name=""/>
        <dsp:cNvSpPr/>
      </dsp:nvSpPr>
      <dsp:spPr>
        <a:xfrm>
          <a:off x="4456652" y="2559850"/>
          <a:ext cx="2240101" cy="96817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8575" cap="flat" cmpd="sng" algn="ctr">
          <a:solidFill>
            <a:srgbClr val="0070C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nl-NL" sz="2300" b="1" kern="1200" cap="small" baseline="0" dirty="0" smtClean="0">
              <a:solidFill>
                <a:srgbClr val="0070C0"/>
              </a:solidFill>
            </a:rPr>
            <a:t>General </a:t>
          </a:r>
          <a:r>
            <a:rPr lang="nl-NL" sz="2300" b="1" kern="1200" cap="small" baseline="0" dirty="0" err="1" smtClean="0">
              <a:solidFill>
                <a:srgbClr val="0070C0"/>
              </a:solidFill>
            </a:rPr>
            <a:t>newspaper</a:t>
          </a:r>
          <a:endParaRPr lang="nl-NL" sz="2300" b="1" kern="1200" cap="small" baseline="0" dirty="0" smtClean="0">
            <a:solidFill>
              <a:srgbClr val="0070C0"/>
            </a:solidFill>
          </a:endParaRPr>
        </a:p>
      </dsp:txBody>
      <dsp:txXfrm>
        <a:off x="4456652" y="2559850"/>
        <a:ext cx="2240101" cy="968173"/>
      </dsp:txXfrm>
    </dsp:sp>
    <dsp:sp modelId="{A5E3919C-62A9-40F7-B706-096635E5810D}">
      <dsp:nvSpPr>
        <dsp:cNvPr id="0" name=""/>
        <dsp:cNvSpPr/>
      </dsp:nvSpPr>
      <dsp:spPr>
        <a:xfrm>
          <a:off x="1592059" y="3887593"/>
          <a:ext cx="2224359" cy="96817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8575" cap="flat" cmpd="sng" algn="ctr">
          <a:solidFill>
            <a:srgbClr val="0070C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nl-NL" sz="2300" b="1" kern="1200" cap="small" baseline="0" dirty="0" smtClean="0">
              <a:solidFill>
                <a:srgbClr val="0070C0"/>
              </a:solidFill>
            </a:rPr>
            <a:t>Magazine </a:t>
          </a:r>
          <a:r>
            <a:rPr lang="nl-NL" sz="2300" b="1" kern="1200" cap="small" baseline="0" dirty="0" err="1" smtClean="0">
              <a:solidFill>
                <a:srgbClr val="0070C0"/>
              </a:solidFill>
            </a:rPr>
            <a:t>for</a:t>
          </a:r>
          <a:r>
            <a:rPr lang="nl-NL" sz="2300" b="1" kern="1200" cap="small" baseline="0" dirty="0" smtClean="0">
              <a:solidFill>
                <a:srgbClr val="0070C0"/>
              </a:solidFill>
            </a:rPr>
            <a:t> the </a:t>
          </a:r>
          <a:r>
            <a:rPr lang="nl-NL" sz="2300" b="1" kern="1200" cap="small" baseline="0" dirty="0" err="1" smtClean="0">
              <a:solidFill>
                <a:srgbClr val="0070C0"/>
              </a:solidFill>
            </a:rPr>
            <a:t>elderly</a:t>
          </a:r>
          <a:endParaRPr lang="nl-NL" sz="2300" b="1" kern="1200" cap="small" baseline="0" dirty="0" smtClean="0">
            <a:solidFill>
              <a:srgbClr val="0070C0"/>
            </a:solidFill>
          </a:endParaRPr>
        </a:p>
      </dsp:txBody>
      <dsp:txXfrm>
        <a:off x="1592059" y="3887593"/>
        <a:ext cx="2224359" cy="968173"/>
      </dsp:txXfrm>
    </dsp:sp>
    <dsp:sp modelId="{5A439C2D-3A7B-4426-AA53-E5B808C69285}">
      <dsp:nvSpPr>
        <dsp:cNvPr id="0" name=""/>
        <dsp:cNvSpPr/>
      </dsp:nvSpPr>
      <dsp:spPr>
        <a:xfrm>
          <a:off x="5948094" y="1480104"/>
          <a:ext cx="2281500" cy="96817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8575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nl-NL" sz="2300" b="1" kern="1200" cap="small" baseline="0" dirty="0" err="1" smtClean="0"/>
            <a:t>Production</a:t>
          </a:r>
          <a:r>
            <a:rPr lang="nl-NL" sz="2300" b="1" kern="1200" cap="small" baseline="0" dirty="0" smtClean="0"/>
            <a:t> </a:t>
          </a:r>
          <a:r>
            <a:rPr lang="nl-NL" sz="2300" b="1" kern="1200" cap="small" baseline="0" dirty="0" err="1" smtClean="0"/>
            <a:t>process</a:t>
          </a:r>
          <a:endParaRPr lang="nl-BE" sz="2300" b="1" kern="1200" cap="small" baseline="0" dirty="0"/>
        </a:p>
      </dsp:txBody>
      <dsp:txXfrm>
        <a:off x="5948094" y="1480104"/>
        <a:ext cx="2281500" cy="96817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119" cy="464820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98102" y="0"/>
            <a:ext cx="2982119" cy="464820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r">
              <a:defRPr sz="1200"/>
            </a:lvl1pPr>
          </a:lstStyle>
          <a:p>
            <a:fld id="{1ACCCF12-21E5-43EA-A291-26E244046A19}" type="datetimeFigureOut">
              <a:rPr lang="nl-BE" smtClean="0"/>
              <a:t>4/02/2015</a:t>
            </a:fld>
            <a:endParaRPr lang="nl-BE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11176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46" tIns="46223" rIns="92446" bIns="46223" rtlCol="0" anchor="ctr"/>
          <a:lstStyle/>
          <a:p>
            <a:endParaRPr lang="nl-BE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8182" y="4415790"/>
            <a:ext cx="5505450" cy="4183380"/>
          </a:xfrm>
          <a:prstGeom prst="rect">
            <a:avLst/>
          </a:prstGeom>
        </p:spPr>
        <p:txBody>
          <a:bodyPr vert="horz" lIns="92446" tIns="46223" rIns="92446" bIns="46223" rtlCol="0"/>
          <a:lstStyle/>
          <a:p>
            <a:pPr lvl="0"/>
            <a:r>
              <a:rPr lang="nl-NL" smtClean="0"/>
              <a:t>Klik om de modelstijlen te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  <a:p>
            <a:pPr lvl="4"/>
            <a:r>
              <a:rPr lang="nl-NL" smtClean="0"/>
              <a:t>Vijfde niveau</a:t>
            </a:r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2982119" cy="464820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98102" y="8829967"/>
            <a:ext cx="2982119" cy="464820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r">
              <a:defRPr sz="1200"/>
            </a:lvl1pPr>
          </a:lstStyle>
          <a:p>
            <a:fld id="{CA7081C4-82B1-4C52-9F57-8632599558E0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8446304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7081C4-82B1-4C52-9F57-8632599558E0}" type="slidenum">
              <a:rPr lang="nl-BE" smtClean="0"/>
              <a:t>1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0381348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7081C4-82B1-4C52-9F57-8632599558E0}" type="slidenum">
              <a:rPr lang="nl-BE" smtClean="0"/>
              <a:t>2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8495783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sz="1100" dirty="0"/>
          </a:p>
        </p:txBody>
      </p:sp>
      <p:sp>
        <p:nvSpPr>
          <p:cNvPr id="19460" name="Tijdelijke aanduiding voor dianumm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394A0A6C-A2FE-4CB6-8396-7D4F8A1F4A26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3</a:t>
            </a:fld>
            <a:endParaRPr lang="en-US" smtClean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+mj-lt"/>
              <a:buNone/>
            </a:pPr>
            <a:endParaRPr lang="en-US" u="sng" dirty="0"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CC587BB-8245-4F75-A9C1-E9C17478E873}" type="slidenum">
              <a:rPr lang="nl-BE" smtClean="0"/>
              <a:t>4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6372464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7081C4-82B1-4C52-9F57-8632599558E0}" type="slidenum">
              <a:rPr lang="nl-BE" smtClean="0"/>
              <a:t>5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9821788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CC587BB-8245-4F75-A9C1-E9C17478E873}" type="slidenum">
              <a:rPr lang="nl-BE" smtClean="0"/>
              <a:t>6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426556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5BB2FA-4BAE-4630-A85F-AF51EBCA8AC4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7081C4-82B1-4C52-9F57-8632599558E0}" type="slidenum">
              <a:rPr lang="nl-BE" smtClean="0"/>
              <a:t>8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9896428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7081C4-82B1-4C52-9F57-8632599558E0}" type="slidenum">
              <a:rPr lang="nl-BE" smtClean="0"/>
              <a:t>9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5142681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7081C4-82B1-4C52-9F57-8632599558E0}" type="slidenum">
              <a:rPr lang="nl-BE" smtClean="0"/>
              <a:t>10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0067462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7081C4-82B1-4C52-9F57-8632599558E0}" type="slidenum">
              <a:rPr lang="nl-BE" smtClean="0"/>
              <a:t>11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9726438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7081C4-82B1-4C52-9F57-8632599558E0}" type="slidenum">
              <a:rPr lang="nl-BE" smtClean="0"/>
              <a:t>12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6809336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7081C4-82B1-4C52-9F57-8632599558E0}" type="slidenum">
              <a:rPr lang="nl-BE" smtClean="0"/>
              <a:t>13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8289904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7081C4-82B1-4C52-9F57-8632599558E0}" type="slidenum">
              <a:rPr lang="nl-BE" smtClean="0"/>
              <a:t>14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73800997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7081C4-82B1-4C52-9F57-8632599558E0}" type="slidenum">
              <a:rPr lang="nl-BE" smtClean="0"/>
              <a:t>15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64738181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7081C4-82B1-4C52-9F57-8632599558E0}" type="slidenum">
              <a:rPr lang="nl-BE" smtClean="0"/>
              <a:t>16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4158807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228600"/>
            <a:ext cx="7772400" cy="4571999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8800" spc="-80" baseline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4800600"/>
            <a:ext cx="6858000" cy="914400"/>
          </a:xfrm>
        </p:spPr>
        <p:txBody>
          <a:bodyPr/>
          <a:lstStyle>
            <a:lvl1pPr marL="0" indent="0" algn="l">
              <a:buNone/>
              <a:defRPr b="0" cap="all" spc="12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8931A-2329-475A-B78C-E254F3124AFB}" type="datetimeFigureOut">
              <a:rPr lang="nl-BE" smtClean="0"/>
              <a:t>4/02/2015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9" name="Rectangle 8"/>
          <p:cNvSpPr/>
          <p:nvPr/>
        </p:nvSpPr>
        <p:spPr>
          <a:xfrm>
            <a:off x="9001124" y="4846320"/>
            <a:ext cx="142876" cy="20116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9001124" y="0"/>
            <a:ext cx="142876" cy="4846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6EF6070-4F19-4E3E-9C07-29E62676E3CC}" type="slidenum">
              <a:rPr lang="nl-BE" smtClean="0"/>
              <a:t>‹nr.›</a:t>
            </a:fld>
            <a:endParaRPr lang="nl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8931A-2329-475A-B78C-E254F3124AFB}" type="datetimeFigureOut">
              <a:rPr lang="nl-BE" smtClean="0"/>
              <a:t>4/02/2015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F6070-4F19-4E3E-9C07-29E62676E3CC}" type="slidenum">
              <a:rPr lang="nl-BE" smtClean="0"/>
              <a:t>‹nr.›</a:t>
            </a:fld>
            <a:endParaRPr lang="nl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47800"/>
            <a:ext cx="7772400" cy="4321175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8800" b="0" cap="all" spc="-80" baseline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28601"/>
            <a:ext cx="7772400" cy="1066800"/>
          </a:xfrm>
        </p:spPr>
        <p:txBody>
          <a:bodyPr anchor="b"/>
          <a:lstStyle>
            <a:lvl1pPr marL="0" indent="0">
              <a:buNone/>
              <a:defRPr sz="2000" b="0" cap="all" spc="12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8931A-2329-475A-B78C-E254F3124AFB}" type="datetimeFigureOut">
              <a:rPr lang="nl-BE" smtClean="0"/>
              <a:t>4/02/2015</a:t>
            </a:fld>
            <a:endParaRPr lang="nl-BE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6EF6070-4F19-4E3E-9C07-29E62676E3CC}" type="slidenum">
              <a:rPr lang="nl-BE" smtClean="0"/>
              <a:t>‹nr.›</a:t>
            </a:fld>
            <a:endParaRPr lang="nl-BE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nl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30680" y="1574800"/>
            <a:ext cx="329184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0160" y="1574800"/>
            <a:ext cx="329184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8931A-2329-475A-B78C-E254F3124AFB}" type="datetimeFigureOut">
              <a:rPr lang="nl-BE" smtClean="0"/>
              <a:t>4/02/2015</a:t>
            </a:fld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F6070-4F19-4E3E-9C07-29E62676E3CC}" type="slidenum">
              <a:rPr lang="nl-BE" smtClean="0"/>
              <a:t>‹nr.›</a:t>
            </a:fld>
            <a:endParaRPr lang="nl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7632" y="1572768"/>
            <a:ext cx="3291840" cy="639762"/>
          </a:xfrm>
        </p:spPr>
        <p:txBody>
          <a:bodyPr anchor="b">
            <a:noAutofit/>
          </a:bodyPr>
          <a:lstStyle>
            <a:lvl1pPr marL="0" indent="0">
              <a:buNone/>
              <a:defRPr sz="1800" b="0" cap="all" spc="1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27632" y="2259366"/>
            <a:ext cx="329184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3208" y="1572768"/>
            <a:ext cx="3291840" cy="639762"/>
          </a:xfrm>
        </p:spPr>
        <p:txBody>
          <a:bodyPr anchor="b">
            <a:noAutofit/>
          </a:bodyPr>
          <a:lstStyle>
            <a:lvl1pPr marL="0" indent="0">
              <a:buNone/>
              <a:defRPr lang="en-US" sz="1800" b="0" kern="1200" cap="all" spc="100" baseline="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3208" y="2259366"/>
            <a:ext cx="329184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8931A-2329-475A-B78C-E254F3124AFB}" type="datetimeFigureOut">
              <a:rPr lang="nl-BE" smtClean="0"/>
              <a:t>4/02/2015</a:t>
            </a:fld>
            <a:endParaRPr lang="nl-B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F6070-4F19-4E3E-9C07-29E62676E3CC}" type="slidenum">
              <a:rPr lang="nl-BE" smtClean="0"/>
              <a:t>‹nr.›</a:t>
            </a:fld>
            <a:endParaRPr lang="nl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8931A-2329-475A-B78C-E254F3124AFB}" type="datetimeFigureOut">
              <a:rPr lang="nl-BE" smtClean="0"/>
              <a:t>4/02/2015</a:t>
            </a:fld>
            <a:endParaRPr lang="nl-B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F6070-4F19-4E3E-9C07-29E62676E3CC}" type="slidenum">
              <a:rPr lang="nl-BE" smtClean="0"/>
              <a:t>‹nr.›</a:t>
            </a:fld>
            <a:endParaRPr lang="nl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8931A-2329-475A-B78C-E254F3124AFB}" type="datetimeFigureOut">
              <a:rPr lang="nl-BE" smtClean="0"/>
              <a:t>4/02/2015</a:t>
            </a:fld>
            <a:endParaRPr lang="nl-B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F6070-4F19-4E3E-9C07-29E62676E3CC}" type="slidenum">
              <a:rPr lang="nl-BE" smtClean="0"/>
              <a:t>‹nr.›</a:t>
            </a:fld>
            <a:endParaRPr lang="nl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600200"/>
            <a:ext cx="5111750" cy="44805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00200"/>
            <a:ext cx="3008313" cy="448056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8931A-2329-475A-B78C-E254F3124AFB}" type="datetimeFigureOut">
              <a:rPr lang="nl-BE" smtClean="0"/>
              <a:t>4/02/2015</a:t>
            </a:fld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F6070-4F19-4E3E-9C07-29E62676E3CC}" type="slidenum">
              <a:rPr lang="nl-BE" smtClean="0"/>
              <a:t>‹nr.›</a:t>
            </a:fld>
            <a:endParaRPr lang="nl-BE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9001124" y="4846320"/>
            <a:ext cx="142876" cy="20116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-1" y="0"/>
            <a:ext cx="9000877" cy="4846320"/>
          </a:xfrm>
          <a:solidFill>
            <a:schemeClr val="bg1">
              <a:lumMod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5715000"/>
            <a:ext cx="8153400" cy="457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8931A-2329-475A-B78C-E254F3124AFB}" type="datetimeFigureOut">
              <a:rPr lang="nl-BE" smtClean="0"/>
              <a:t>4/02/2015</a:t>
            </a:fld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6EF6070-4F19-4E3E-9C07-29E62676E3CC}" type="slidenum">
              <a:rPr lang="nl-BE" smtClean="0"/>
              <a:t>‹nr.›</a:t>
            </a:fld>
            <a:endParaRPr lang="nl-BE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457200" y="4953000"/>
            <a:ext cx="8153400" cy="76200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9001124" y="0"/>
            <a:ext cx="142876" cy="4846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8931A-2329-475A-B78C-E254F3124AFB}" type="datetimeFigureOut">
              <a:rPr lang="nl-BE" smtClean="0"/>
              <a:t>4/02/2015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F6070-4F19-4E3E-9C07-29E62676E3CC}" type="slidenum">
              <a:rPr lang="nl-BE" smtClean="0"/>
              <a:t>‹nr.›</a:t>
            </a:fld>
            <a:endParaRPr lang="nl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8931A-2329-475A-B78C-E254F3124AFB}" type="datetimeFigureOut">
              <a:rPr lang="nl-BE" smtClean="0"/>
              <a:t>4/02/2015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F6070-4F19-4E3E-9C07-29E62676E3CC}" type="slidenum">
              <a:rPr lang="nl-BE" smtClean="0"/>
              <a:t>‹nr.›</a:t>
            </a:fld>
            <a:endParaRPr lang="nl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5791200" cy="1371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52600"/>
            <a:ext cx="7620000" cy="4373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172201"/>
            <a:ext cx="3429000" cy="304800"/>
          </a:xfrm>
          <a:prstGeom prst="rect">
            <a:avLst/>
          </a:prstGeom>
        </p:spPr>
        <p:txBody>
          <a:bodyPr vert="horz" lIns="91440" tIns="45720" rIns="9144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3238931A-2329-475A-B78C-E254F3124AFB}" type="datetimeFigureOut">
              <a:rPr lang="nl-BE" smtClean="0"/>
              <a:t>4/02/2015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 rot="16200000">
            <a:off x="8227377" y="5885497"/>
            <a:ext cx="13157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1">
                <a:solidFill>
                  <a:schemeClr val="tx2"/>
                </a:solidFill>
              </a:defRPr>
            </a:lvl1pPr>
          </a:lstStyle>
          <a:p>
            <a:fld id="{46EF6070-4F19-4E3E-9C07-29E62676E3CC}" type="slidenum">
              <a:rPr lang="nl-BE" smtClean="0"/>
              <a:t>‹nr.›</a:t>
            </a:fld>
            <a:endParaRPr lang="nl-BE"/>
          </a:p>
        </p:txBody>
      </p:sp>
      <p:sp>
        <p:nvSpPr>
          <p:cNvPr id="7" name="Rectangle 6"/>
          <p:cNvSpPr/>
          <p:nvPr/>
        </p:nvSpPr>
        <p:spPr>
          <a:xfrm>
            <a:off x="9001124" y="0"/>
            <a:ext cx="142876" cy="1371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001124" y="1371600"/>
            <a:ext cx="142876" cy="5486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3600" kern="1200" cap="all" spc="-6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spcAft>
          <a:spcPts val="600"/>
        </a:spcAft>
        <a:buFont typeface="Arial" pitchFamily="34" charset="0"/>
        <a:buNone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jpe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4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4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4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healthmediasociety.net/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457200" y="1628800"/>
            <a:ext cx="7772400" cy="3171799"/>
          </a:xfrm>
        </p:spPr>
        <p:txBody>
          <a:bodyPr/>
          <a:lstStyle/>
          <a:p>
            <a:r>
              <a:rPr lang="nl-BE" sz="2400" dirty="0" smtClean="0"/>
              <a:t>(de)</a:t>
            </a:r>
            <a:r>
              <a:rPr lang="nl-BE" sz="2400" dirty="0" err="1" smtClean="0"/>
              <a:t>constructing</a:t>
            </a:r>
            <a:r>
              <a:rPr lang="nl-BE" sz="2400" dirty="0" smtClean="0"/>
              <a:t> health news: </a:t>
            </a:r>
            <a:br>
              <a:rPr lang="nl-BE" sz="2400" dirty="0" smtClean="0"/>
            </a:br>
            <a:r>
              <a:rPr lang="en-US" sz="2400" dirty="0"/>
              <a:t>a </a:t>
            </a:r>
            <a:r>
              <a:rPr lang="en-US" sz="2400" dirty="0" err="1"/>
              <a:t>transdisciplinary</a:t>
            </a:r>
            <a:r>
              <a:rPr lang="en-US" sz="2400" dirty="0"/>
              <a:t> investigation into </a:t>
            </a:r>
            <a:r>
              <a:rPr lang="en-US" sz="2400" dirty="0" smtClean="0"/>
              <a:t>news media </a:t>
            </a:r>
            <a:r>
              <a:rPr lang="en-US" sz="2400" dirty="0"/>
              <a:t>coverage of elderly-related health issues</a:t>
            </a:r>
            <a:endParaRPr lang="nl-BE" sz="2400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467544" y="4365104"/>
            <a:ext cx="7929302" cy="1872208"/>
          </a:xfrm>
        </p:spPr>
        <p:txBody>
          <a:bodyPr>
            <a:noAutofit/>
          </a:bodyPr>
          <a:lstStyle/>
          <a:p>
            <a:r>
              <a:rPr lang="nl-BE" sz="1600" dirty="0" smtClean="0">
                <a:latin typeface="+mn-lt"/>
              </a:rPr>
              <a:t>Sarah van </a:t>
            </a:r>
            <a:r>
              <a:rPr lang="nl-BE" sz="1600" dirty="0" err="1" smtClean="0">
                <a:latin typeface="+mn-lt"/>
              </a:rPr>
              <a:t>leuven</a:t>
            </a:r>
            <a:r>
              <a:rPr lang="nl-BE" sz="1600" dirty="0" smtClean="0">
                <a:latin typeface="+mn-lt"/>
              </a:rPr>
              <a:t>, </a:t>
            </a:r>
            <a:r>
              <a:rPr lang="nl-BE" sz="1600" dirty="0" err="1" smtClean="0">
                <a:latin typeface="+mn-lt"/>
              </a:rPr>
              <a:t>stijn</a:t>
            </a:r>
            <a:r>
              <a:rPr lang="nl-BE" sz="1600" dirty="0" smtClean="0">
                <a:latin typeface="+mn-lt"/>
              </a:rPr>
              <a:t> </a:t>
            </a:r>
            <a:r>
              <a:rPr lang="nl-BE" sz="1600" dirty="0" err="1" smtClean="0">
                <a:latin typeface="+mn-lt"/>
              </a:rPr>
              <a:t>joye</a:t>
            </a:r>
            <a:r>
              <a:rPr lang="nl-BE" sz="1600" dirty="0" smtClean="0">
                <a:latin typeface="+mn-lt"/>
              </a:rPr>
              <a:t>, </a:t>
            </a:r>
            <a:r>
              <a:rPr lang="nl-BE" sz="1600" dirty="0" err="1" smtClean="0">
                <a:latin typeface="+mn-lt"/>
              </a:rPr>
              <a:t>daniël</a:t>
            </a:r>
            <a:r>
              <a:rPr lang="nl-BE" sz="1600" dirty="0" smtClean="0">
                <a:latin typeface="+mn-lt"/>
              </a:rPr>
              <a:t> </a:t>
            </a:r>
            <a:r>
              <a:rPr lang="nl-BE" sz="1600" dirty="0" err="1" smtClean="0">
                <a:latin typeface="+mn-lt"/>
              </a:rPr>
              <a:t>biltereyst</a:t>
            </a:r>
            <a:r>
              <a:rPr lang="nl-BE" sz="1600" dirty="0" smtClean="0">
                <a:latin typeface="+mn-lt"/>
              </a:rPr>
              <a:t> &amp; </a:t>
            </a:r>
          </a:p>
          <a:p>
            <a:r>
              <a:rPr lang="nl-BE" sz="1600" dirty="0" err="1" smtClean="0">
                <a:latin typeface="+mn-lt"/>
              </a:rPr>
              <a:t>karin</a:t>
            </a:r>
            <a:r>
              <a:rPr lang="nl-BE" sz="1600" dirty="0" smtClean="0">
                <a:latin typeface="+mn-lt"/>
              </a:rPr>
              <a:t> </a:t>
            </a:r>
            <a:r>
              <a:rPr lang="nl-BE" sz="1600" dirty="0" err="1" smtClean="0">
                <a:latin typeface="+mn-lt"/>
              </a:rPr>
              <a:t>raeymaeckers</a:t>
            </a:r>
            <a:endParaRPr lang="nl-BE" sz="1600" dirty="0" smtClean="0">
              <a:latin typeface="+mn-lt"/>
            </a:endParaRPr>
          </a:p>
          <a:p>
            <a:endParaRPr lang="nl-BE" sz="1600" dirty="0">
              <a:latin typeface="+mn-lt"/>
            </a:endParaRPr>
          </a:p>
          <a:p>
            <a:r>
              <a:rPr lang="nl-BE" sz="1600" dirty="0" smtClean="0">
                <a:solidFill>
                  <a:schemeClr val="tx1"/>
                </a:solidFill>
                <a:latin typeface="+mn-lt"/>
              </a:rPr>
              <a:t>Etmaal van de communicatiewetenschap - 3 </a:t>
            </a:r>
            <a:r>
              <a:rPr lang="nl-BE" sz="1600" dirty="0" err="1" smtClean="0">
                <a:solidFill>
                  <a:schemeClr val="tx1"/>
                </a:solidFill>
                <a:latin typeface="+mn-lt"/>
              </a:rPr>
              <a:t>february</a:t>
            </a:r>
            <a:r>
              <a:rPr lang="nl-BE" sz="1600" dirty="0" smtClean="0">
                <a:solidFill>
                  <a:schemeClr val="tx1"/>
                </a:solidFill>
                <a:latin typeface="+mn-lt"/>
              </a:rPr>
              <a:t> 2015</a:t>
            </a:r>
            <a:endParaRPr lang="nl-BE" sz="1600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2160" y="116632"/>
            <a:ext cx="2609925" cy="12580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334506"/>
            <a:ext cx="113347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687119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7787208" cy="1044034"/>
          </a:xfrm>
        </p:spPr>
        <p:txBody>
          <a:bodyPr>
            <a:normAutofit/>
          </a:bodyPr>
          <a:lstStyle/>
          <a:p>
            <a:r>
              <a:rPr lang="nl-NL" sz="3200" dirty="0" smtClean="0"/>
              <a:t>Context of the PROJECT</a:t>
            </a:r>
            <a:endParaRPr lang="nl-BE" sz="3200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467544" y="1772816"/>
            <a:ext cx="7620000" cy="4608512"/>
          </a:xfrm>
        </p:spPr>
        <p:txBody>
          <a:bodyPr>
            <a:normAutofit fontScale="92500" lnSpcReduction="2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Important societal changes</a:t>
            </a:r>
          </a:p>
          <a:p>
            <a:pPr marL="800100" lvl="1" indent="-342900"/>
            <a:r>
              <a:rPr lang="en-US" dirty="0" err="1" smtClean="0"/>
              <a:t>Healthism</a:t>
            </a:r>
            <a:r>
              <a:rPr lang="en-US" dirty="0" smtClean="0"/>
              <a:t>, medicalization</a:t>
            </a:r>
          </a:p>
          <a:p>
            <a:pPr marL="800100" lvl="1" indent="-342900"/>
            <a:r>
              <a:rPr lang="en-US" dirty="0" smtClean="0"/>
              <a:t>Ageing of the population</a:t>
            </a:r>
          </a:p>
          <a:p>
            <a:pPr marL="800100" lvl="1" indent="-342900"/>
            <a:r>
              <a:rPr lang="en-US" dirty="0" smtClean="0"/>
              <a:t>Digitalization</a:t>
            </a:r>
          </a:p>
          <a:p>
            <a:pPr marL="800100" lvl="1" indent="-342900"/>
            <a:endParaRPr lang="en-US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Enormous increase of health related information</a:t>
            </a:r>
          </a:p>
          <a:p>
            <a:pPr marL="800100" lvl="1" indent="-342900"/>
            <a:r>
              <a:rPr lang="en-US" dirty="0" smtClean="0"/>
              <a:t>Through the mass media</a:t>
            </a:r>
          </a:p>
          <a:p>
            <a:pPr marL="800100" lvl="1" indent="-342900"/>
            <a:r>
              <a:rPr lang="en-US" dirty="0" smtClean="0"/>
              <a:t>Through different channels and stakeholders</a:t>
            </a:r>
          </a:p>
          <a:p>
            <a:pPr marL="800100" lvl="1" indent="-342900"/>
            <a:endParaRPr lang="en-US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Central research question</a:t>
            </a:r>
          </a:p>
          <a:p>
            <a:pPr marL="800100" lvl="1" indent="-342900"/>
            <a:r>
              <a:rPr lang="en-US" dirty="0" smtClean="0"/>
              <a:t>Patient empowerment </a:t>
            </a:r>
            <a:r>
              <a:rPr lang="en-US" sz="2600" dirty="0" smtClean="0"/>
              <a:t>↔</a:t>
            </a:r>
            <a:r>
              <a:rPr lang="en-US" dirty="0" smtClean="0"/>
              <a:t> Influence of stakeholders?</a:t>
            </a:r>
          </a:p>
          <a:p>
            <a:pPr marL="800100" lvl="1" indent="-342900"/>
            <a:r>
              <a:rPr lang="en-US" dirty="0"/>
              <a:t>Construction and deconstruction of health news/information?</a:t>
            </a:r>
            <a:endParaRPr lang="en-US" dirty="0" smtClean="0"/>
          </a:p>
          <a:p>
            <a:pPr marL="800100" lvl="1" indent="-342900"/>
            <a:endParaRPr lang="en-US" dirty="0" smtClean="0"/>
          </a:p>
          <a:p>
            <a:pPr marL="800100" lvl="1" indent="-342900"/>
            <a:r>
              <a:rPr lang="en-US" dirty="0" smtClean="0"/>
              <a:t>Focus on the elderly (50+)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0535079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fgeronde rechthoek 10"/>
          <p:cNvSpPr/>
          <p:nvPr/>
        </p:nvSpPr>
        <p:spPr>
          <a:xfrm>
            <a:off x="189022" y="2178560"/>
            <a:ext cx="2531250" cy="1800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2000" b="1" dirty="0" smtClean="0">
                <a:solidFill>
                  <a:prstClr val="white"/>
                </a:solidFill>
              </a:rPr>
              <a:t>STAKEHOLDERS</a:t>
            </a:r>
            <a:endParaRPr lang="nl-NL" b="1" dirty="0">
              <a:solidFill>
                <a:prstClr val="white"/>
              </a:solidFill>
            </a:endParaRPr>
          </a:p>
        </p:txBody>
      </p:sp>
      <p:sp>
        <p:nvSpPr>
          <p:cNvPr id="13" name="PIJL-RECHTS 12"/>
          <p:cNvSpPr/>
          <p:nvPr/>
        </p:nvSpPr>
        <p:spPr>
          <a:xfrm>
            <a:off x="2843808" y="2594028"/>
            <a:ext cx="978408" cy="484632"/>
          </a:xfrm>
          <a:prstGeom prst="rightArrow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prstClr val="white"/>
              </a:solidFill>
            </a:endParaRPr>
          </a:p>
        </p:txBody>
      </p:sp>
      <p:sp>
        <p:nvSpPr>
          <p:cNvPr id="5" name="Afgeronde rechthoek 4"/>
          <p:cNvSpPr/>
          <p:nvPr/>
        </p:nvSpPr>
        <p:spPr>
          <a:xfrm>
            <a:off x="3920372" y="2178560"/>
            <a:ext cx="1850504" cy="18196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2000" b="1" dirty="0" smtClean="0">
                <a:solidFill>
                  <a:prstClr val="white"/>
                </a:solidFill>
              </a:rPr>
              <a:t>MEDIA</a:t>
            </a:r>
            <a:endParaRPr lang="nl-NL" b="1" dirty="0">
              <a:solidFill>
                <a:prstClr val="white"/>
              </a:solidFill>
            </a:endParaRPr>
          </a:p>
        </p:txBody>
      </p:sp>
      <p:sp>
        <p:nvSpPr>
          <p:cNvPr id="6" name="PIJL-RECHTS 5"/>
          <p:cNvSpPr/>
          <p:nvPr/>
        </p:nvSpPr>
        <p:spPr>
          <a:xfrm>
            <a:off x="5888697" y="2489257"/>
            <a:ext cx="978408" cy="484632"/>
          </a:xfrm>
          <a:prstGeom prst="rightArrow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prstClr val="white"/>
              </a:solidFill>
            </a:endParaRPr>
          </a:p>
        </p:txBody>
      </p:sp>
      <p:sp>
        <p:nvSpPr>
          <p:cNvPr id="7" name="Afgeronde rechthoek 6"/>
          <p:cNvSpPr/>
          <p:nvPr/>
        </p:nvSpPr>
        <p:spPr>
          <a:xfrm>
            <a:off x="6948264" y="2132856"/>
            <a:ext cx="2016224" cy="18196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2000" b="1" dirty="0" smtClean="0">
                <a:solidFill>
                  <a:prstClr val="white"/>
                </a:solidFill>
              </a:rPr>
              <a:t>AUDIENCE (ELDERLY)</a:t>
            </a:r>
            <a:endParaRPr lang="nl-NL" b="1" dirty="0">
              <a:solidFill>
                <a:prstClr val="white"/>
              </a:solidFill>
            </a:endParaRPr>
          </a:p>
        </p:txBody>
      </p:sp>
      <p:sp>
        <p:nvSpPr>
          <p:cNvPr id="8" name="PIJL-RECHTS 7"/>
          <p:cNvSpPr/>
          <p:nvPr/>
        </p:nvSpPr>
        <p:spPr>
          <a:xfrm>
            <a:off x="1655688" y="4132249"/>
            <a:ext cx="6156672" cy="484632"/>
          </a:xfrm>
          <a:prstGeom prst="rightArrow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prstClr val="white"/>
              </a:solidFill>
            </a:endParaRPr>
          </a:p>
        </p:txBody>
      </p:sp>
      <p:sp>
        <p:nvSpPr>
          <p:cNvPr id="9" name="PIJL-RECHTS 8"/>
          <p:cNvSpPr/>
          <p:nvPr/>
        </p:nvSpPr>
        <p:spPr>
          <a:xfrm rot="10800000">
            <a:off x="1216732" y="4456536"/>
            <a:ext cx="6156672" cy="484632"/>
          </a:xfrm>
          <a:prstGeom prst="rightArrow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prstClr val="white"/>
              </a:solidFill>
            </a:endParaRPr>
          </a:p>
        </p:txBody>
      </p:sp>
      <p:sp>
        <p:nvSpPr>
          <p:cNvPr id="10" name="PIJL-RECHTS 9"/>
          <p:cNvSpPr/>
          <p:nvPr/>
        </p:nvSpPr>
        <p:spPr>
          <a:xfrm rot="10800000">
            <a:off x="2832323" y="3078660"/>
            <a:ext cx="978408" cy="484632"/>
          </a:xfrm>
          <a:prstGeom prst="rightArrow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prstClr val="white"/>
              </a:solidFill>
            </a:endParaRPr>
          </a:p>
        </p:txBody>
      </p:sp>
      <p:sp>
        <p:nvSpPr>
          <p:cNvPr id="12" name="PIJL-RECHTS 11"/>
          <p:cNvSpPr/>
          <p:nvPr/>
        </p:nvSpPr>
        <p:spPr>
          <a:xfrm rot="10800000">
            <a:off x="5868144" y="3062274"/>
            <a:ext cx="978408" cy="484632"/>
          </a:xfrm>
          <a:prstGeom prst="rightArrow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prstClr val="white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152718"/>
            <a:ext cx="7499176" cy="1116042"/>
          </a:xfrm>
        </p:spPr>
        <p:txBody>
          <a:bodyPr>
            <a:normAutofit/>
          </a:bodyPr>
          <a:lstStyle/>
          <a:p>
            <a:r>
              <a:rPr lang="nl-NL" sz="3200" b="1" dirty="0" smtClean="0">
                <a:cs typeface="Times New Roman" panose="02020603050405020304" pitchFamily="18" charset="0"/>
              </a:rPr>
              <a:t>Start-</a:t>
            </a:r>
            <a:r>
              <a:rPr lang="nl-NL" sz="3200" b="1" dirty="0" err="1" smtClean="0">
                <a:cs typeface="Times New Roman" panose="02020603050405020304" pitchFamily="18" charset="0"/>
              </a:rPr>
              <a:t>to</a:t>
            </a:r>
            <a:r>
              <a:rPr lang="nl-NL" sz="3200" b="1" dirty="0" smtClean="0">
                <a:cs typeface="Times New Roman" panose="02020603050405020304" pitchFamily="18" charset="0"/>
              </a:rPr>
              <a:t>-end </a:t>
            </a:r>
            <a:r>
              <a:rPr lang="nl-NL" sz="3200" b="1" dirty="0" err="1" smtClean="0">
                <a:cs typeface="Times New Roman" panose="02020603050405020304" pitchFamily="18" charset="0"/>
              </a:rPr>
              <a:t>perspective</a:t>
            </a:r>
            <a:endParaRPr lang="nl-BE" sz="3200" dirty="0">
              <a:cs typeface="Times New Roman" panose="02020603050405020304" pitchFamily="18" charset="0"/>
            </a:endParaRPr>
          </a:p>
        </p:txBody>
      </p:sp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nl-NL" dirty="0" smtClean="0"/>
          </a:p>
          <a:p>
            <a:endParaRPr lang="nl-NL" dirty="0"/>
          </a:p>
          <a:p>
            <a:endParaRPr lang="nl-NL" dirty="0" smtClean="0"/>
          </a:p>
          <a:p>
            <a:endParaRPr lang="nl-NL" dirty="0"/>
          </a:p>
          <a:p>
            <a:endParaRPr lang="nl-NL" dirty="0" smtClean="0"/>
          </a:p>
          <a:p>
            <a:endParaRPr lang="nl-NL" dirty="0"/>
          </a:p>
          <a:p>
            <a:endParaRPr lang="nl-NL" dirty="0" smtClean="0"/>
          </a:p>
          <a:p>
            <a:endParaRPr lang="nl-NL" dirty="0"/>
          </a:p>
          <a:p>
            <a:endParaRPr lang="nl-NL" dirty="0" smtClean="0"/>
          </a:p>
          <a:p>
            <a:pPr algn="ctr"/>
            <a:r>
              <a:rPr lang="nl-NL" dirty="0" smtClean="0"/>
              <a:t>Construction and </a:t>
            </a:r>
            <a:r>
              <a:rPr lang="nl-NL" dirty="0" err="1" smtClean="0"/>
              <a:t>deconstruction</a:t>
            </a:r>
            <a:r>
              <a:rPr lang="nl-NL" dirty="0" smtClean="0"/>
              <a:t> of health </a:t>
            </a:r>
            <a:r>
              <a:rPr lang="nl-NL" dirty="0" err="1" smtClean="0"/>
              <a:t>news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01830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24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864096"/>
          </a:xfrm>
        </p:spPr>
        <p:txBody>
          <a:bodyPr>
            <a:normAutofit/>
          </a:bodyPr>
          <a:lstStyle/>
          <a:p>
            <a:r>
              <a:rPr lang="nl-NL" sz="3200" b="1" dirty="0" smtClean="0">
                <a:cs typeface="Times New Roman" panose="02020603050405020304" pitchFamily="18" charset="0"/>
              </a:rPr>
              <a:t>Stakeholders</a:t>
            </a:r>
            <a:endParaRPr lang="nl-BE" sz="3200" b="1" dirty="0">
              <a:cs typeface="Times New Roman" panose="02020603050405020304" pitchFamily="18" charset="0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268760"/>
            <a:ext cx="2677626" cy="15026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072" y="404664"/>
            <a:ext cx="3276600" cy="140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3928" y="2020094"/>
            <a:ext cx="4010025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019" y="3429000"/>
            <a:ext cx="3114675" cy="1466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0102" y="4437112"/>
            <a:ext cx="2871788" cy="21510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817" y="5359456"/>
            <a:ext cx="3705225" cy="1228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6" name="Picture 8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1920" y="3068960"/>
            <a:ext cx="1937538" cy="1946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45863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7859216" cy="1116042"/>
          </a:xfrm>
        </p:spPr>
        <p:txBody>
          <a:bodyPr>
            <a:normAutofit/>
          </a:bodyPr>
          <a:lstStyle/>
          <a:p>
            <a:r>
              <a:rPr lang="nl-NL" sz="3200" dirty="0" err="1" smtClean="0"/>
              <a:t>Transdisciplinary</a:t>
            </a:r>
            <a:r>
              <a:rPr lang="nl-NL" sz="3200" dirty="0" smtClean="0"/>
              <a:t> research</a:t>
            </a:r>
            <a:endParaRPr lang="nl-BE" sz="3200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457200" y="1988840"/>
            <a:ext cx="7620000" cy="4137323"/>
          </a:xfrm>
        </p:spPr>
        <p:txBody>
          <a:bodyPr>
            <a:normAutofit/>
          </a:bodyPr>
          <a:lstStyle/>
          <a:p>
            <a:pPr algn="ctr"/>
            <a:r>
              <a:rPr lang="en-US" sz="2400" b="0" dirty="0"/>
              <a:t>a “particular form </a:t>
            </a:r>
            <a:r>
              <a:rPr lang="en-US" sz="2400" b="0" dirty="0" smtClean="0"/>
              <a:t>of interdisciplinary </a:t>
            </a:r>
            <a:r>
              <a:rPr lang="en-US" sz="2400" b="0" dirty="0"/>
              <a:t>research which does not simply bring together different disciplines and </a:t>
            </a:r>
            <a:r>
              <a:rPr lang="en-US" sz="2400" b="0" dirty="0" smtClean="0"/>
              <a:t>theoretical-analytical frameworks</a:t>
            </a:r>
            <a:r>
              <a:rPr lang="en-US" sz="2400" b="0" dirty="0"/>
              <a:t>. It also initiates a dialogue between two disciplines and frameworks, which may lead to a </a:t>
            </a:r>
            <a:r>
              <a:rPr lang="en-US" sz="2400" b="0" dirty="0" smtClean="0"/>
              <a:t>development of </a:t>
            </a:r>
            <a:r>
              <a:rPr lang="en-US" sz="2400" b="0" dirty="0"/>
              <a:t>both through a process of each internally appropriating the logic of the other as a resource for its </a:t>
            </a:r>
            <a:r>
              <a:rPr lang="en-US" sz="2400" b="0" dirty="0" smtClean="0"/>
              <a:t>own development.”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b="0" dirty="0" smtClean="0"/>
          </a:p>
          <a:p>
            <a:pPr algn="r"/>
            <a:r>
              <a:rPr lang="en-US" sz="2400" b="0" dirty="0" err="1"/>
              <a:t>Chiapello</a:t>
            </a:r>
            <a:r>
              <a:rPr lang="en-US" sz="2400" b="0" dirty="0"/>
              <a:t> and </a:t>
            </a:r>
            <a:r>
              <a:rPr lang="en-US" sz="2400" b="0" dirty="0" err="1"/>
              <a:t>Fairclough</a:t>
            </a:r>
            <a:r>
              <a:rPr lang="en-US" sz="2400" b="0" dirty="0"/>
              <a:t> (2002: 206)</a:t>
            </a:r>
            <a:endParaRPr lang="nl-BE" sz="2400" b="0" dirty="0"/>
          </a:p>
        </p:txBody>
      </p:sp>
    </p:spTree>
    <p:extLst>
      <p:ext uri="{BB962C8B-B14F-4D97-AF65-F5344CB8AC3E}">
        <p14:creationId xmlns:p14="http://schemas.microsoft.com/office/powerpoint/2010/main" val="32555781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7499176" cy="900018"/>
          </a:xfrm>
        </p:spPr>
        <p:txBody>
          <a:bodyPr>
            <a:normAutofit/>
          </a:bodyPr>
          <a:lstStyle/>
          <a:p>
            <a:r>
              <a:rPr lang="nl-NL" sz="3200" b="1" dirty="0" smtClean="0">
                <a:cs typeface="Times New Roman" panose="02020603050405020304" pitchFamily="18" charset="0"/>
              </a:rPr>
              <a:t>Health, Media &amp; Society</a:t>
            </a:r>
            <a:endParaRPr lang="nl-BE" sz="3200" b="1" dirty="0"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124744"/>
            <a:ext cx="8208912" cy="4608513"/>
          </a:xfrm>
        </p:spPr>
        <p:txBody>
          <a:bodyPr>
            <a:normAutofit/>
          </a:bodyPr>
          <a:lstStyle/>
          <a:p>
            <a:pPr lvl="1"/>
            <a:r>
              <a:rPr lang="en-US" sz="1600" b="1" dirty="0">
                <a:cs typeface="Times New Roman" panose="02020603050405020304" pitchFamily="18" charset="0"/>
              </a:rPr>
              <a:t>6</a:t>
            </a:r>
            <a:r>
              <a:rPr lang="en-US" sz="1600" b="1" dirty="0" smtClean="0">
                <a:cs typeface="Times New Roman" panose="02020603050405020304" pitchFamily="18" charset="0"/>
              </a:rPr>
              <a:t> Supervisors</a:t>
            </a:r>
            <a:r>
              <a:rPr lang="en-US" sz="1600" dirty="0" smtClean="0">
                <a:cs typeface="Times New Roman" panose="02020603050405020304" pitchFamily="18" charset="0"/>
              </a:rPr>
              <a:t>: </a:t>
            </a:r>
            <a:r>
              <a:rPr lang="nl-BE" sz="1600" dirty="0" smtClean="0">
                <a:cs typeface="Times New Roman" panose="02020603050405020304" pitchFamily="18" charset="0"/>
              </a:rPr>
              <a:t>Daniël Biltereyst (</a:t>
            </a:r>
            <a:r>
              <a:rPr lang="nl-BE" sz="1600" dirty="0" err="1" smtClean="0">
                <a:cs typeface="Times New Roman" panose="02020603050405020304" pitchFamily="18" charset="0"/>
              </a:rPr>
              <a:t>communication</a:t>
            </a:r>
            <a:r>
              <a:rPr lang="nl-BE" sz="1600" dirty="0" smtClean="0">
                <a:cs typeface="Times New Roman" panose="02020603050405020304" pitchFamily="18" charset="0"/>
              </a:rPr>
              <a:t>), Piet Bracke (</a:t>
            </a:r>
            <a:r>
              <a:rPr lang="nl-BE" sz="1600" dirty="0" err="1" smtClean="0">
                <a:cs typeface="Times New Roman" panose="02020603050405020304" pitchFamily="18" charset="0"/>
              </a:rPr>
              <a:t>sociology</a:t>
            </a:r>
            <a:r>
              <a:rPr lang="nl-BE" sz="1600" dirty="0" smtClean="0">
                <a:cs typeface="Times New Roman" panose="02020603050405020304" pitchFamily="18" charset="0"/>
              </a:rPr>
              <a:t>), </a:t>
            </a:r>
            <a:r>
              <a:rPr lang="nl-BE" sz="1600" dirty="0" err="1" smtClean="0">
                <a:cs typeface="Times New Roman" panose="02020603050405020304" pitchFamily="18" charset="0"/>
              </a:rPr>
              <a:t>Thierry</a:t>
            </a:r>
            <a:r>
              <a:rPr lang="nl-BE" sz="1600" dirty="0" smtClean="0">
                <a:cs typeface="Times New Roman" panose="02020603050405020304" pitchFamily="18" charset="0"/>
              </a:rPr>
              <a:t> Christiaens (</a:t>
            </a:r>
            <a:r>
              <a:rPr lang="nl-BE" sz="1600" dirty="0" err="1" smtClean="0">
                <a:cs typeface="Times New Roman" panose="02020603050405020304" pitchFamily="18" charset="0"/>
              </a:rPr>
              <a:t>medical</a:t>
            </a:r>
            <a:r>
              <a:rPr lang="nl-BE" sz="1600" dirty="0" smtClean="0">
                <a:cs typeface="Times New Roman" panose="02020603050405020304" pitchFamily="18" charset="0"/>
              </a:rPr>
              <a:t> &amp; health), Geert Jacobs (</a:t>
            </a:r>
            <a:r>
              <a:rPr lang="nl-BE" sz="1600" dirty="0" err="1" smtClean="0">
                <a:cs typeface="Times New Roman" panose="02020603050405020304" pitchFamily="18" charset="0"/>
              </a:rPr>
              <a:t>sociolinguistics</a:t>
            </a:r>
            <a:r>
              <a:rPr lang="nl-BE" sz="1600" dirty="0" smtClean="0">
                <a:cs typeface="Times New Roman" panose="02020603050405020304" pitchFamily="18" charset="0"/>
              </a:rPr>
              <a:t>), Stijn Joye (</a:t>
            </a:r>
            <a:r>
              <a:rPr lang="nl-BE" sz="1600" dirty="0" err="1" smtClean="0">
                <a:cs typeface="Times New Roman" panose="02020603050405020304" pitchFamily="18" charset="0"/>
              </a:rPr>
              <a:t>communication</a:t>
            </a:r>
            <a:r>
              <a:rPr lang="nl-BE" sz="1600" dirty="0" smtClean="0">
                <a:cs typeface="Times New Roman" panose="02020603050405020304" pitchFamily="18" charset="0"/>
              </a:rPr>
              <a:t>), Karin Raeymaeckers (</a:t>
            </a:r>
            <a:r>
              <a:rPr lang="nl-BE" sz="1600" dirty="0" err="1" smtClean="0">
                <a:cs typeface="Times New Roman" panose="02020603050405020304" pitchFamily="18" charset="0"/>
              </a:rPr>
              <a:t>communication</a:t>
            </a:r>
            <a:r>
              <a:rPr lang="nl-BE" sz="1600" dirty="0" smtClean="0">
                <a:cs typeface="Times New Roman" panose="02020603050405020304" pitchFamily="18" charset="0"/>
              </a:rPr>
              <a:t>)</a:t>
            </a:r>
          </a:p>
          <a:p>
            <a:pPr lvl="1"/>
            <a:endParaRPr lang="nl-BE" sz="1600" dirty="0" smtClean="0">
              <a:cs typeface="Times New Roman" panose="02020603050405020304" pitchFamily="18" charset="0"/>
            </a:endParaRPr>
          </a:p>
          <a:p>
            <a:pPr lvl="1"/>
            <a:r>
              <a:rPr lang="nl-NL" sz="1600" b="1" dirty="0" smtClean="0">
                <a:cs typeface="Times New Roman" panose="02020603050405020304" pitchFamily="18" charset="0"/>
              </a:rPr>
              <a:t>1 postdoc researcher</a:t>
            </a:r>
            <a:r>
              <a:rPr lang="nl-NL" sz="1600" dirty="0" smtClean="0">
                <a:cs typeface="Times New Roman" panose="02020603050405020304" pitchFamily="18" charset="0"/>
              </a:rPr>
              <a:t>: Sarah Van Leuven (</a:t>
            </a:r>
            <a:r>
              <a:rPr lang="nl-NL" sz="1600" dirty="0" err="1" smtClean="0">
                <a:cs typeface="Times New Roman" panose="02020603050405020304" pitchFamily="18" charset="0"/>
              </a:rPr>
              <a:t>communication</a:t>
            </a:r>
            <a:r>
              <a:rPr lang="nl-NL" sz="1600" dirty="0" smtClean="0">
                <a:cs typeface="Times New Roman" panose="02020603050405020304" pitchFamily="18" charset="0"/>
              </a:rPr>
              <a:t>)</a:t>
            </a:r>
          </a:p>
          <a:p>
            <a:pPr lvl="1"/>
            <a:endParaRPr lang="nl-NL" sz="1600" dirty="0" smtClean="0">
              <a:cs typeface="Times New Roman" panose="02020603050405020304" pitchFamily="18" charset="0"/>
            </a:endParaRPr>
          </a:p>
          <a:p>
            <a:pPr lvl="1"/>
            <a:r>
              <a:rPr lang="nl-NL" sz="1600" b="1" dirty="0" smtClean="0">
                <a:cs typeface="Times New Roman" panose="02020603050405020304" pitchFamily="18" charset="0"/>
              </a:rPr>
              <a:t>4 PhD </a:t>
            </a:r>
            <a:r>
              <a:rPr lang="nl-NL" sz="1600" b="1" dirty="0" err="1" smtClean="0">
                <a:cs typeface="Times New Roman" panose="02020603050405020304" pitchFamily="18" charset="0"/>
              </a:rPr>
              <a:t>researchers</a:t>
            </a:r>
            <a:r>
              <a:rPr lang="nl-NL" sz="1600" dirty="0" smtClean="0">
                <a:cs typeface="Times New Roman" panose="02020603050405020304" pitchFamily="18" charset="0"/>
              </a:rPr>
              <a:t>: </a:t>
            </a:r>
            <a:r>
              <a:rPr lang="nl-NL" sz="1600" dirty="0" err="1" smtClean="0">
                <a:cs typeface="Times New Roman" panose="02020603050405020304" pitchFamily="18" charset="0"/>
              </a:rPr>
              <a:t>Violetta</a:t>
            </a:r>
            <a:r>
              <a:rPr lang="nl-NL" sz="1600" dirty="0" smtClean="0">
                <a:cs typeface="Times New Roman" panose="02020603050405020304" pitchFamily="18" charset="0"/>
              </a:rPr>
              <a:t> </a:t>
            </a:r>
            <a:r>
              <a:rPr lang="nl-NL" sz="1600" dirty="0" err="1" smtClean="0">
                <a:cs typeface="Times New Roman" panose="02020603050405020304" pitchFamily="18" charset="0"/>
              </a:rPr>
              <a:t>Jitomirskaya</a:t>
            </a:r>
            <a:r>
              <a:rPr lang="nl-NL" sz="1600" dirty="0" smtClean="0">
                <a:cs typeface="Times New Roman" panose="02020603050405020304" pitchFamily="18" charset="0"/>
              </a:rPr>
              <a:t> (</a:t>
            </a:r>
            <a:r>
              <a:rPr lang="nl-NL" sz="1600" dirty="0" err="1" smtClean="0">
                <a:cs typeface="Times New Roman" panose="02020603050405020304" pitchFamily="18" charset="0"/>
              </a:rPr>
              <a:t>communication</a:t>
            </a:r>
            <a:r>
              <a:rPr lang="nl-NL" sz="1600" dirty="0" smtClean="0">
                <a:cs typeface="Times New Roman" panose="02020603050405020304" pitchFamily="18" charset="0"/>
              </a:rPr>
              <a:t>), Sarah Van den Bogaert (</a:t>
            </a:r>
            <a:r>
              <a:rPr lang="nl-NL" sz="1600" dirty="0" err="1" smtClean="0">
                <a:cs typeface="Times New Roman" panose="02020603050405020304" pitchFamily="18" charset="0"/>
              </a:rPr>
              <a:t>sociology</a:t>
            </a:r>
            <a:r>
              <a:rPr lang="nl-NL" sz="1600" dirty="0" smtClean="0">
                <a:cs typeface="Times New Roman" panose="02020603050405020304" pitchFamily="18" charset="0"/>
              </a:rPr>
              <a:t>), Jana Declercq (</a:t>
            </a:r>
            <a:r>
              <a:rPr lang="nl-NL" sz="1600" dirty="0" err="1" smtClean="0">
                <a:cs typeface="Times New Roman" panose="02020603050405020304" pitchFamily="18" charset="0"/>
              </a:rPr>
              <a:t>sociolinguistics</a:t>
            </a:r>
            <a:r>
              <a:rPr lang="nl-NL" sz="1600" dirty="0" smtClean="0">
                <a:cs typeface="Times New Roman" panose="02020603050405020304" pitchFamily="18" charset="0"/>
              </a:rPr>
              <a:t>), Joyce </a:t>
            </a:r>
            <a:r>
              <a:rPr lang="nl-NL" sz="1600" dirty="0" err="1" smtClean="0">
                <a:cs typeface="Times New Roman" panose="02020603050405020304" pitchFamily="18" charset="0"/>
              </a:rPr>
              <a:t>Stroobant</a:t>
            </a:r>
            <a:r>
              <a:rPr lang="nl-NL" sz="1600" dirty="0" smtClean="0">
                <a:cs typeface="Times New Roman" panose="02020603050405020304" pitchFamily="18" charset="0"/>
              </a:rPr>
              <a:t> (</a:t>
            </a:r>
            <a:r>
              <a:rPr lang="nl-NL" sz="1600" dirty="0" err="1" smtClean="0">
                <a:cs typeface="Times New Roman" panose="02020603050405020304" pitchFamily="18" charset="0"/>
              </a:rPr>
              <a:t>communication</a:t>
            </a:r>
            <a:r>
              <a:rPr lang="nl-NL" sz="1600" dirty="0" smtClean="0">
                <a:cs typeface="Times New Roman" panose="02020603050405020304" pitchFamily="18" charset="0"/>
              </a:rPr>
              <a:t>)</a:t>
            </a:r>
          </a:p>
          <a:p>
            <a:endParaRPr lang="nl-BE" sz="18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5157192"/>
            <a:ext cx="2609850" cy="1262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9912" y="3571279"/>
            <a:ext cx="4762500" cy="317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00648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ep 7"/>
          <p:cNvGrpSpPr/>
          <p:nvPr/>
        </p:nvGrpSpPr>
        <p:grpSpPr>
          <a:xfrm>
            <a:off x="653358" y="1772816"/>
            <a:ext cx="3126554" cy="1872208"/>
            <a:chOff x="4118" y="1043502"/>
            <a:chExt cx="1981051" cy="1398973"/>
          </a:xfrm>
        </p:grpSpPr>
        <p:sp>
          <p:nvSpPr>
            <p:cNvPr id="9" name="Afgeronde rechthoek 8"/>
            <p:cNvSpPr/>
            <p:nvPr/>
          </p:nvSpPr>
          <p:spPr>
            <a:xfrm>
              <a:off x="4118" y="1046775"/>
              <a:ext cx="1981051" cy="1395700"/>
            </a:xfrm>
            <a:prstGeom prst="roundRect">
              <a:avLst/>
            </a:prstGeom>
            <a:solidFill>
              <a:srgbClr val="00B050"/>
            </a:soli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0" name="Afgeronde rechthoek 4"/>
            <p:cNvSpPr/>
            <p:nvPr/>
          </p:nvSpPr>
          <p:spPr>
            <a:xfrm>
              <a:off x="72250" y="1043502"/>
              <a:ext cx="1844787" cy="125943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0960" tIns="60960" rIns="60960" bIns="60960" numCol="1" spcCol="1270" anchor="ctr" anchorCtr="0">
              <a:noAutofit/>
            </a:bodyPr>
            <a:lstStyle/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900" b="1" kern="1200" dirty="0" smtClean="0">
                  <a:cs typeface="Times New Roman" panose="02020603050405020304" pitchFamily="18" charset="0"/>
                </a:rPr>
                <a:t>WP1: STAKEHOLDER ANALYSIS</a:t>
              </a:r>
              <a:endParaRPr lang="nl-BE" sz="1900" kern="1200" dirty="0">
                <a:cs typeface="Times New Roman" panose="02020603050405020304" pitchFamily="18" charset="0"/>
              </a:endParaRPr>
            </a:p>
          </p:txBody>
        </p:sp>
      </p:grpSp>
      <p:sp>
        <p:nvSpPr>
          <p:cNvPr id="12" name="Afgeronde rechthoek 11"/>
          <p:cNvSpPr/>
          <p:nvPr/>
        </p:nvSpPr>
        <p:spPr>
          <a:xfrm>
            <a:off x="4994950" y="1784204"/>
            <a:ext cx="3228702" cy="1867828"/>
          </a:xfrm>
          <a:prstGeom prst="roundRect">
            <a:avLst/>
          </a:prstGeom>
          <a:solidFill>
            <a:srgbClr val="00B050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grpSp>
        <p:nvGrpSpPr>
          <p:cNvPr id="14" name="Groep 13"/>
          <p:cNvGrpSpPr/>
          <p:nvPr/>
        </p:nvGrpSpPr>
        <p:grpSpPr>
          <a:xfrm>
            <a:off x="653358" y="3975302"/>
            <a:ext cx="3126554" cy="1757954"/>
            <a:chOff x="2814058" y="1072707"/>
            <a:chExt cx="2468880" cy="1395700"/>
          </a:xfrm>
          <a:solidFill>
            <a:srgbClr val="00B050"/>
          </a:solidFill>
        </p:grpSpPr>
        <p:sp>
          <p:nvSpPr>
            <p:cNvPr id="15" name="Afgeronde rechthoek 14"/>
            <p:cNvSpPr/>
            <p:nvPr/>
          </p:nvSpPr>
          <p:spPr>
            <a:xfrm>
              <a:off x="2814058" y="1072707"/>
              <a:ext cx="2468880" cy="1395700"/>
            </a:xfrm>
            <a:prstGeom prst="roundRect">
              <a:avLst/>
            </a:prstGeom>
            <a:grpFill/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6" name="Afgeronde rechthoek 4"/>
            <p:cNvSpPr/>
            <p:nvPr/>
          </p:nvSpPr>
          <p:spPr>
            <a:xfrm>
              <a:off x="2882190" y="1140839"/>
              <a:ext cx="2332616" cy="1259436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2390" tIns="72390" rIns="72390" bIns="72390" numCol="1" spcCol="1270" anchor="ctr" anchorCtr="0">
              <a:noAutofit/>
            </a:bodyPr>
            <a:lstStyle/>
            <a:p>
              <a:pPr lvl="0" algn="ctr"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900" b="1" kern="1200" dirty="0" smtClean="0">
                  <a:solidFill>
                    <a:schemeClr val="bg1"/>
                  </a:solidFill>
                  <a:cs typeface="Times New Roman" panose="02020603050405020304" pitchFamily="18" charset="0"/>
                </a:rPr>
                <a:t>WP3: NEWS SOURCING, FRAME AND DISCOURSE ANALYSIS</a:t>
              </a:r>
              <a:endParaRPr lang="nl-BE" sz="1900" kern="1200" dirty="0">
                <a:solidFill>
                  <a:schemeClr val="bg1"/>
                </a:solidFill>
                <a:cs typeface="Times New Roman" panose="02020603050405020304" pitchFamily="18" charset="0"/>
              </a:endParaRPr>
            </a:p>
          </p:txBody>
        </p:sp>
      </p:grpSp>
      <p:grpSp>
        <p:nvGrpSpPr>
          <p:cNvPr id="17" name="Groep 16"/>
          <p:cNvGrpSpPr/>
          <p:nvPr/>
        </p:nvGrpSpPr>
        <p:grpSpPr>
          <a:xfrm>
            <a:off x="4979440" y="3975303"/>
            <a:ext cx="3290906" cy="1757954"/>
            <a:chOff x="5404295" y="1072707"/>
            <a:chExt cx="2468880" cy="1395700"/>
          </a:xfrm>
        </p:grpSpPr>
        <p:sp>
          <p:nvSpPr>
            <p:cNvPr id="18" name="Afgeronde rechthoek 17"/>
            <p:cNvSpPr/>
            <p:nvPr/>
          </p:nvSpPr>
          <p:spPr>
            <a:xfrm>
              <a:off x="5404295" y="1072707"/>
              <a:ext cx="2468880" cy="1395700"/>
            </a:xfrm>
            <a:prstGeom prst="roundRect">
              <a:avLst/>
            </a:prstGeom>
            <a:solidFill>
              <a:srgbClr val="00B050"/>
            </a:soli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9" name="Afgeronde rechthoek 4"/>
            <p:cNvSpPr/>
            <p:nvPr/>
          </p:nvSpPr>
          <p:spPr>
            <a:xfrm>
              <a:off x="5472427" y="1140839"/>
              <a:ext cx="2332616" cy="125943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2390" tIns="72390" rIns="72390" bIns="72390" numCol="1" spcCol="1270" anchor="ctr" anchorCtr="0">
              <a:noAutofit/>
            </a:bodyPr>
            <a:lstStyle/>
            <a:p>
              <a:pPr lvl="0" algn="ctr"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900" b="1" kern="1200" dirty="0" smtClean="0">
                  <a:solidFill>
                    <a:schemeClr val="bg1"/>
                  </a:solidFill>
                  <a:cs typeface="Times New Roman" panose="02020603050405020304" pitchFamily="18" charset="0"/>
                </a:rPr>
                <a:t>WP4: NEWS MEDIA UPTAKE ANALYSIS AND AUDIENCE RESEARCH </a:t>
              </a:r>
              <a:endParaRPr lang="nl-BE" sz="1900" kern="1200" dirty="0">
                <a:solidFill>
                  <a:schemeClr val="bg1"/>
                </a:solidFill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5791200" cy="1116042"/>
          </a:xfrm>
        </p:spPr>
        <p:txBody>
          <a:bodyPr>
            <a:normAutofit/>
          </a:bodyPr>
          <a:lstStyle/>
          <a:p>
            <a:r>
              <a:rPr lang="nl-NL" sz="3200" b="1" dirty="0" smtClean="0">
                <a:cs typeface="Times New Roman" panose="02020603050405020304" pitchFamily="18" charset="0"/>
              </a:rPr>
              <a:t>Research design</a:t>
            </a:r>
            <a:endParaRPr lang="nl-NL" sz="3200" b="1" dirty="0">
              <a:cs typeface="Times New Roman" panose="02020603050405020304" pitchFamily="18" charset="0"/>
            </a:endParaRPr>
          </a:p>
        </p:txBody>
      </p:sp>
      <p:sp>
        <p:nvSpPr>
          <p:cNvPr id="3" name="Rechthoek 2"/>
          <p:cNvSpPr/>
          <p:nvPr/>
        </p:nvSpPr>
        <p:spPr>
          <a:xfrm>
            <a:off x="5070257" y="2387944"/>
            <a:ext cx="3078088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900" b="1" dirty="0">
                <a:solidFill>
                  <a:schemeClr val="bg1"/>
                </a:solidFill>
              </a:rPr>
              <a:t>WP2: NEWS STORY LIFECYCLE ANALYSIS</a:t>
            </a:r>
          </a:p>
        </p:txBody>
      </p:sp>
    </p:spTree>
    <p:extLst>
      <p:ext uri="{BB962C8B-B14F-4D97-AF65-F5344CB8AC3E}">
        <p14:creationId xmlns:p14="http://schemas.microsoft.com/office/powerpoint/2010/main" val="1999240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sz="3600" dirty="0" smtClean="0"/>
              <a:t>WP1: Stakeholder analysis</a:t>
            </a:r>
            <a:endParaRPr lang="nl-BE" sz="3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3645024"/>
            <a:ext cx="6858000" cy="2069976"/>
          </a:xfrm>
        </p:spPr>
        <p:txBody>
          <a:bodyPr>
            <a:normAutofit/>
          </a:bodyPr>
          <a:lstStyle/>
          <a:p>
            <a:r>
              <a:rPr lang="nl-NL" sz="1800" dirty="0" smtClean="0"/>
              <a:t>SOCIOLOGY</a:t>
            </a:r>
          </a:p>
          <a:p>
            <a:endParaRPr lang="nl-NL" sz="1800" dirty="0"/>
          </a:p>
          <a:p>
            <a:r>
              <a:rPr lang="nl-NL" sz="1800" dirty="0" smtClean="0"/>
              <a:t>PhD Student: Sarah van den </a:t>
            </a:r>
            <a:r>
              <a:rPr lang="nl-NL" sz="1800" dirty="0" err="1" smtClean="0"/>
              <a:t>bogaert</a:t>
            </a:r>
            <a:endParaRPr lang="nl-NL" sz="1800" dirty="0" smtClean="0"/>
          </a:p>
          <a:p>
            <a:r>
              <a:rPr lang="nl-NL" sz="1800" dirty="0" smtClean="0"/>
              <a:t>SUPERVISOR: piet </a:t>
            </a:r>
            <a:r>
              <a:rPr lang="nl-NL" sz="1800" dirty="0" err="1" smtClean="0"/>
              <a:t>bracke</a:t>
            </a:r>
            <a:endParaRPr lang="nl-NL" sz="1800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439" y="5676785"/>
            <a:ext cx="1882197" cy="90907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6336" y="5837759"/>
            <a:ext cx="1134278" cy="823068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8184" y="620688"/>
            <a:ext cx="2381250" cy="2381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91362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7715200" cy="972026"/>
          </a:xfrm>
        </p:spPr>
        <p:txBody>
          <a:bodyPr>
            <a:normAutofit/>
          </a:bodyPr>
          <a:lstStyle/>
          <a:p>
            <a:r>
              <a:rPr lang="nl-NL" sz="3200" dirty="0" smtClean="0"/>
              <a:t>WP1: Stakeholder analysis</a:t>
            </a:r>
            <a:endParaRPr lang="nl-BE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40768"/>
            <a:ext cx="8075240" cy="4785395"/>
          </a:xfrm>
        </p:spPr>
        <p:txBody>
          <a:bodyPr>
            <a:no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nl-NL" sz="2400" dirty="0" smtClean="0"/>
              <a:t>GOAL: Stakeholder </a:t>
            </a:r>
            <a:r>
              <a:rPr lang="nl-NL" sz="2400" dirty="0" err="1" smtClean="0"/>
              <a:t>mapping</a:t>
            </a:r>
            <a:r>
              <a:rPr lang="nl-NL" sz="2400" dirty="0" smtClean="0"/>
              <a:t> </a:t>
            </a:r>
            <a:endParaRPr lang="nl-NL" sz="2400" dirty="0"/>
          </a:p>
          <a:p>
            <a:pPr marL="800100" lvl="1" indent="-342900"/>
            <a:r>
              <a:rPr lang="nl-NL" sz="2200" dirty="0" smtClean="0"/>
              <a:t>Relations and </a:t>
            </a:r>
            <a:r>
              <a:rPr lang="nl-NL" sz="2200" dirty="0" err="1" smtClean="0"/>
              <a:t>interests</a:t>
            </a:r>
            <a:endParaRPr lang="nl-NL" sz="2200" dirty="0"/>
          </a:p>
          <a:p>
            <a:pPr marL="800100" lvl="1" indent="-342900"/>
            <a:r>
              <a:rPr lang="nl-NL" sz="2200" b="0" dirty="0" smtClean="0"/>
              <a:t>Discourse of stakeholders</a:t>
            </a:r>
          </a:p>
          <a:p>
            <a:pPr marL="800100" lvl="1" indent="-342900"/>
            <a:endParaRPr lang="nl-NL" sz="2400" b="0" dirty="0" smtClean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nl-NL" sz="2400" dirty="0" smtClean="0"/>
              <a:t>METHOD</a:t>
            </a:r>
          </a:p>
          <a:p>
            <a:pPr marL="800100" lvl="1" indent="-342900"/>
            <a:r>
              <a:rPr lang="nl-NL" sz="2400" dirty="0" err="1" smtClean="0"/>
              <a:t>Two</a:t>
            </a:r>
            <a:r>
              <a:rPr lang="nl-NL" sz="2400" dirty="0" smtClean="0"/>
              <a:t> waves of in-</a:t>
            </a:r>
            <a:r>
              <a:rPr lang="nl-NL" sz="2400" dirty="0" err="1" smtClean="0"/>
              <a:t>depth</a:t>
            </a:r>
            <a:r>
              <a:rPr lang="nl-NL" sz="2400" dirty="0" smtClean="0"/>
              <a:t> interviews</a:t>
            </a:r>
          </a:p>
          <a:p>
            <a:pPr marL="1485900" lvl="2" indent="-342900"/>
            <a:r>
              <a:rPr lang="nl-NL" sz="2000" dirty="0" smtClean="0"/>
              <a:t>9 </a:t>
            </a:r>
            <a:r>
              <a:rPr lang="nl-NL" sz="2000" dirty="0" err="1" smtClean="0"/>
              <a:t>categories</a:t>
            </a:r>
            <a:r>
              <a:rPr lang="nl-NL" sz="2000" dirty="0" smtClean="0"/>
              <a:t> of stakeholders</a:t>
            </a:r>
          </a:p>
          <a:p>
            <a:pPr marL="1485900" lvl="2" indent="-342900"/>
            <a:r>
              <a:rPr lang="nl-NL" sz="2000" dirty="0" smtClean="0"/>
              <a:t>Stakeholders </a:t>
            </a:r>
            <a:r>
              <a:rPr lang="nl-NL" sz="2000" dirty="0" err="1" smtClean="0"/>
              <a:t>who</a:t>
            </a:r>
            <a:r>
              <a:rPr lang="nl-NL" sz="2000" dirty="0" smtClean="0"/>
              <a:t> </a:t>
            </a:r>
            <a:r>
              <a:rPr lang="nl-NL" sz="2000" dirty="0" err="1" smtClean="0"/>
              <a:t>communicate</a:t>
            </a:r>
            <a:r>
              <a:rPr lang="nl-NL" sz="2000" dirty="0" smtClean="0"/>
              <a:t> </a:t>
            </a:r>
            <a:r>
              <a:rPr lang="nl-NL" sz="2000" dirty="0" err="1" smtClean="0"/>
              <a:t>about</a:t>
            </a:r>
            <a:r>
              <a:rPr lang="nl-NL" sz="2000" dirty="0" smtClean="0"/>
              <a:t> </a:t>
            </a:r>
            <a:r>
              <a:rPr lang="nl-NL" sz="2000" dirty="0" err="1" smtClean="0"/>
              <a:t>pharmaceuticals</a:t>
            </a:r>
            <a:endParaRPr lang="nl-NL" sz="2000" dirty="0" smtClean="0"/>
          </a:p>
          <a:p>
            <a:pPr marL="1485900" lvl="2" indent="-342900"/>
            <a:endParaRPr lang="nl-NL" sz="2200" dirty="0" smtClean="0"/>
          </a:p>
          <a:p>
            <a:pPr marL="800100" lvl="1" indent="-342900"/>
            <a:r>
              <a:rPr lang="nl-NL" sz="2400" dirty="0" err="1" smtClean="0"/>
              <a:t>Respondents</a:t>
            </a:r>
            <a:r>
              <a:rPr lang="nl-NL" sz="2400" dirty="0" smtClean="0"/>
              <a:t>: </a:t>
            </a:r>
            <a:r>
              <a:rPr lang="nl-NL" sz="2400" dirty="0" err="1" smtClean="0"/>
              <a:t>key</a:t>
            </a:r>
            <a:r>
              <a:rPr lang="nl-NL" sz="2400" dirty="0" smtClean="0"/>
              <a:t> persons per stakeholder </a:t>
            </a:r>
            <a:r>
              <a:rPr lang="nl-NL" sz="2400" dirty="0" err="1" smtClean="0"/>
              <a:t>category</a:t>
            </a:r>
            <a:r>
              <a:rPr lang="nl-NL" sz="2400" dirty="0" smtClean="0"/>
              <a:t> </a:t>
            </a:r>
          </a:p>
          <a:p>
            <a:pPr marL="1485900" lvl="2" indent="-342900"/>
            <a:r>
              <a:rPr lang="en-US" sz="2000" dirty="0" smtClean="0"/>
              <a:t>administration/management </a:t>
            </a:r>
            <a:r>
              <a:rPr lang="en-US" sz="2000" dirty="0"/>
              <a:t>level </a:t>
            </a:r>
            <a:endParaRPr lang="en-US" sz="2000" dirty="0" smtClean="0"/>
          </a:p>
          <a:p>
            <a:pPr marL="1485900" lvl="2" indent="-342900"/>
            <a:r>
              <a:rPr lang="en-US" sz="2000" dirty="0" smtClean="0"/>
              <a:t>operational level (in charge of communication)</a:t>
            </a:r>
            <a:endParaRPr lang="nl-NL" sz="2000" dirty="0" smtClean="0"/>
          </a:p>
          <a:p>
            <a:pPr marL="800100" lvl="1" indent="-342900"/>
            <a:endParaRPr lang="nl-NL" sz="2400" dirty="0" smtClean="0"/>
          </a:p>
          <a:p>
            <a:pPr marL="800100" lvl="1" indent="-342900"/>
            <a:endParaRPr lang="nl-BE" sz="2400" b="0" dirty="0"/>
          </a:p>
        </p:txBody>
      </p:sp>
    </p:spTree>
    <p:extLst>
      <p:ext uri="{BB962C8B-B14F-4D97-AF65-F5344CB8AC3E}">
        <p14:creationId xmlns:p14="http://schemas.microsoft.com/office/powerpoint/2010/main" val="1388967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88640"/>
            <a:ext cx="8273414" cy="4571999"/>
          </a:xfrm>
        </p:spPr>
        <p:txBody>
          <a:bodyPr/>
          <a:lstStyle/>
          <a:p>
            <a:pPr>
              <a:tabLst>
                <a:tab pos="1341438" algn="l"/>
              </a:tabLst>
            </a:pPr>
            <a:r>
              <a:rPr lang="nl-NL" sz="3600" dirty="0" smtClean="0"/>
              <a:t>WP2: </a:t>
            </a:r>
            <a:r>
              <a:rPr lang="nl-NL" sz="3600" dirty="0" err="1" smtClean="0"/>
              <a:t>production</a:t>
            </a:r>
            <a:r>
              <a:rPr lang="nl-NL" sz="3600" dirty="0" smtClean="0"/>
              <a:t> </a:t>
            </a:r>
            <a:r>
              <a:rPr lang="nl-NL" sz="3600" dirty="0" err="1" smtClean="0"/>
              <a:t>processes</a:t>
            </a:r>
            <a:r>
              <a:rPr lang="nl-NL" sz="3600" dirty="0" smtClean="0"/>
              <a:t/>
            </a:r>
            <a:br>
              <a:rPr lang="nl-NL" sz="3600" dirty="0" smtClean="0"/>
            </a:br>
            <a:r>
              <a:rPr lang="nl-NL" sz="3600" dirty="0" smtClean="0"/>
              <a:t>	</a:t>
            </a:r>
            <a:endParaRPr lang="nl-BE" sz="3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3429000"/>
            <a:ext cx="7067128" cy="2286000"/>
          </a:xfrm>
        </p:spPr>
        <p:txBody>
          <a:bodyPr>
            <a:normAutofit/>
          </a:bodyPr>
          <a:lstStyle/>
          <a:p>
            <a:r>
              <a:rPr lang="nl-NL" sz="1800" dirty="0" err="1" smtClean="0"/>
              <a:t>Linguistic</a:t>
            </a:r>
            <a:r>
              <a:rPr lang="nl-NL" sz="1800" dirty="0" smtClean="0"/>
              <a:t> </a:t>
            </a:r>
            <a:r>
              <a:rPr lang="nl-NL" sz="1800" dirty="0" err="1" smtClean="0"/>
              <a:t>ethnography</a:t>
            </a:r>
            <a:endParaRPr lang="nl-NL" sz="1800" dirty="0" smtClean="0"/>
          </a:p>
          <a:p>
            <a:endParaRPr lang="nl-NL" sz="1800" dirty="0"/>
          </a:p>
          <a:p>
            <a:r>
              <a:rPr lang="nl-NL" sz="1800" dirty="0" smtClean="0"/>
              <a:t>PhD student: Jana </a:t>
            </a:r>
            <a:r>
              <a:rPr lang="nl-NL" sz="1800" dirty="0" err="1" smtClean="0"/>
              <a:t>declercq</a:t>
            </a:r>
            <a:endParaRPr lang="nl-NL" sz="1800" dirty="0" smtClean="0"/>
          </a:p>
          <a:p>
            <a:r>
              <a:rPr lang="nl-NL" sz="1800" dirty="0" smtClean="0"/>
              <a:t>supervisor: geert </a:t>
            </a:r>
            <a:r>
              <a:rPr lang="nl-NL" sz="1800" dirty="0" err="1" smtClean="0"/>
              <a:t>jacobs</a:t>
            </a:r>
            <a:endParaRPr lang="nl-NL" sz="1800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439" y="5676785"/>
            <a:ext cx="1882197" cy="90907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6336" y="5837759"/>
            <a:ext cx="1134278" cy="823068"/>
          </a:xfrm>
          <a:prstGeom prst="rect">
            <a:avLst/>
          </a:prstGeom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2225" y="2852936"/>
            <a:ext cx="2381250" cy="2381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32092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3415165"/>
              </p:ext>
            </p:extLst>
          </p:nvPr>
        </p:nvGraphicFramePr>
        <p:xfrm>
          <a:off x="539552" y="188640"/>
          <a:ext cx="8229600" cy="64807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cxnSp>
        <p:nvCxnSpPr>
          <p:cNvPr id="6" name="Straight Arrow Connector 5"/>
          <p:cNvCxnSpPr/>
          <p:nvPr/>
        </p:nvCxnSpPr>
        <p:spPr>
          <a:xfrm>
            <a:off x="1619672" y="2636912"/>
            <a:ext cx="0" cy="2664296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11560" y="5301208"/>
            <a:ext cx="2016224" cy="10801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2100" b="1" cap="small" dirty="0" smtClean="0"/>
              <a:t>fieldwork</a:t>
            </a:r>
          </a:p>
          <a:p>
            <a:pPr algn="ctr"/>
            <a:r>
              <a:rPr lang="nl-NL" sz="2300" dirty="0" err="1" smtClean="0"/>
              <a:t>Observations</a:t>
            </a:r>
            <a:endParaRPr lang="nl-NL" sz="2300" dirty="0" smtClean="0"/>
          </a:p>
          <a:p>
            <a:pPr algn="ctr"/>
            <a:r>
              <a:rPr lang="nl-NL" sz="2300" dirty="0" smtClean="0"/>
              <a:t>Interviews</a:t>
            </a:r>
            <a:endParaRPr lang="nl-BE" sz="2300" dirty="0"/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7668344" y="2636912"/>
            <a:ext cx="0" cy="2736304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6660232" y="5373216"/>
            <a:ext cx="2016224" cy="10801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2300" dirty="0" err="1" smtClean="0"/>
              <a:t>Cognitive</a:t>
            </a:r>
            <a:endParaRPr lang="nl-NL" sz="2300" dirty="0" smtClean="0"/>
          </a:p>
          <a:p>
            <a:pPr algn="ctr"/>
            <a:r>
              <a:rPr lang="nl-NL" sz="2300" dirty="0" err="1" smtClean="0"/>
              <a:t>Material</a:t>
            </a:r>
            <a:endParaRPr lang="nl-NL" sz="2300" dirty="0" smtClean="0"/>
          </a:p>
          <a:p>
            <a:pPr algn="ctr"/>
            <a:r>
              <a:rPr lang="nl-NL" sz="2300" dirty="0" err="1" smtClean="0"/>
              <a:t>Social</a:t>
            </a:r>
            <a:endParaRPr lang="nl-NL" sz="2300" dirty="0" smtClean="0"/>
          </a:p>
        </p:txBody>
      </p:sp>
      <p:cxnSp>
        <p:nvCxnSpPr>
          <p:cNvPr id="14" name="Straight Arrow Connector 13"/>
          <p:cNvCxnSpPr/>
          <p:nvPr/>
        </p:nvCxnSpPr>
        <p:spPr>
          <a:xfrm>
            <a:off x="3203848" y="3717032"/>
            <a:ext cx="0" cy="360040"/>
          </a:xfrm>
          <a:prstGeom prst="straightConnector1">
            <a:avLst/>
          </a:prstGeom>
          <a:ln w="28575">
            <a:solidFill>
              <a:srgbClr val="00B05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6084168" y="3717032"/>
            <a:ext cx="0" cy="360040"/>
          </a:xfrm>
          <a:prstGeom prst="straightConnector1">
            <a:avLst/>
          </a:prstGeom>
          <a:ln w="28575">
            <a:solidFill>
              <a:srgbClr val="00B05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H="1">
            <a:off x="4355976" y="2996952"/>
            <a:ext cx="648072" cy="0"/>
          </a:xfrm>
          <a:prstGeom prst="straightConnector1">
            <a:avLst/>
          </a:prstGeom>
          <a:ln w="28575">
            <a:solidFill>
              <a:srgbClr val="00B05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H="1">
            <a:off x="4355976" y="4797152"/>
            <a:ext cx="648072" cy="0"/>
          </a:xfrm>
          <a:prstGeom prst="straightConnector1">
            <a:avLst/>
          </a:prstGeom>
          <a:ln w="28575">
            <a:solidFill>
              <a:srgbClr val="00B05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flipH="1" flipV="1">
            <a:off x="4355976" y="3717032"/>
            <a:ext cx="648072" cy="360040"/>
          </a:xfrm>
          <a:prstGeom prst="straightConnector1">
            <a:avLst/>
          </a:prstGeom>
          <a:ln w="28575">
            <a:solidFill>
              <a:srgbClr val="00B05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H="1">
            <a:off x="4355976" y="3717032"/>
            <a:ext cx="648072" cy="360040"/>
          </a:xfrm>
          <a:prstGeom prst="straightConnector1">
            <a:avLst/>
          </a:prstGeom>
          <a:ln w="28575">
            <a:solidFill>
              <a:srgbClr val="00B05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Down Arrow 28"/>
          <p:cNvSpPr/>
          <p:nvPr/>
        </p:nvSpPr>
        <p:spPr>
          <a:xfrm>
            <a:off x="1403648" y="1196752"/>
            <a:ext cx="484632" cy="432048"/>
          </a:xfrm>
          <a:prstGeom prst="downArrow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34" name="Down Arrow 33"/>
          <p:cNvSpPr/>
          <p:nvPr/>
        </p:nvSpPr>
        <p:spPr>
          <a:xfrm>
            <a:off x="4447408" y="1196752"/>
            <a:ext cx="484632" cy="432048"/>
          </a:xfrm>
          <a:prstGeom prst="downArrow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>
              <a:ln>
                <a:solidFill>
                  <a:srgbClr val="00B050"/>
                </a:solidFill>
              </a:ln>
            </a:endParaRPr>
          </a:p>
        </p:txBody>
      </p:sp>
      <p:sp>
        <p:nvSpPr>
          <p:cNvPr id="35" name="Down Arrow 34"/>
          <p:cNvSpPr/>
          <p:nvPr/>
        </p:nvSpPr>
        <p:spPr>
          <a:xfrm>
            <a:off x="7399736" y="1196752"/>
            <a:ext cx="484632" cy="432048"/>
          </a:xfrm>
          <a:prstGeom prst="downArrow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514352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228601"/>
            <a:ext cx="8273414" cy="3416423"/>
          </a:xfrm>
        </p:spPr>
        <p:txBody>
          <a:bodyPr/>
          <a:lstStyle/>
          <a:p>
            <a:pPr>
              <a:tabLst>
                <a:tab pos="1341438" algn="l"/>
              </a:tabLst>
            </a:pPr>
            <a:r>
              <a:rPr lang="nl-NL" sz="3600" dirty="0" smtClean="0"/>
              <a:t>WP3: </a:t>
            </a:r>
            <a:r>
              <a:rPr lang="nl-NL" sz="3600" dirty="0" err="1" smtClean="0"/>
              <a:t>news</a:t>
            </a:r>
            <a:r>
              <a:rPr lang="nl-NL" sz="3600" dirty="0" smtClean="0"/>
              <a:t> content</a:t>
            </a:r>
            <a:br>
              <a:rPr lang="nl-NL" sz="3600" dirty="0" smtClean="0"/>
            </a:br>
            <a:r>
              <a:rPr lang="nl-NL" sz="3600" dirty="0"/>
              <a:t>	</a:t>
            </a:r>
            <a:endParaRPr lang="nl-BE" sz="3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3429000"/>
            <a:ext cx="6858000" cy="2286000"/>
          </a:xfrm>
        </p:spPr>
        <p:txBody>
          <a:bodyPr>
            <a:normAutofit/>
          </a:bodyPr>
          <a:lstStyle/>
          <a:p>
            <a:r>
              <a:rPr lang="nl-NL" sz="1800" dirty="0" smtClean="0"/>
              <a:t>Communication </a:t>
            </a:r>
            <a:r>
              <a:rPr lang="nl-NL" sz="1800" dirty="0" err="1" smtClean="0"/>
              <a:t>sciences</a:t>
            </a:r>
            <a:endParaRPr lang="nl-NL" sz="1800" dirty="0" smtClean="0"/>
          </a:p>
          <a:p>
            <a:endParaRPr lang="nl-NL" sz="1800" dirty="0"/>
          </a:p>
          <a:p>
            <a:r>
              <a:rPr lang="nl-NL" sz="1800" dirty="0" err="1" smtClean="0"/>
              <a:t>Phd</a:t>
            </a:r>
            <a:r>
              <a:rPr lang="nl-NL" sz="1800" dirty="0" smtClean="0"/>
              <a:t> student: Joyce Stroobant</a:t>
            </a:r>
          </a:p>
          <a:p>
            <a:r>
              <a:rPr lang="nl-NL" sz="1800" dirty="0" smtClean="0"/>
              <a:t>supervisor: Karin </a:t>
            </a:r>
            <a:r>
              <a:rPr lang="nl-NL" sz="1800" dirty="0" err="1" smtClean="0"/>
              <a:t>raeymaeckers</a:t>
            </a:r>
            <a:endParaRPr lang="nl-NL" sz="1800" dirty="0" smtClean="0"/>
          </a:p>
          <a:p>
            <a:endParaRPr lang="nl-NL" sz="1400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439" y="5676785"/>
            <a:ext cx="1882197" cy="90907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6336" y="5837759"/>
            <a:ext cx="1134278" cy="823068"/>
          </a:xfrm>
          <a:prstGeom prst="rect">
            <a:avLst/>
          </a:prstGeom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6861" y="2060848"/>
            <a:ext cx="2381250" cy="2381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43534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fgeronde rechthoek 1"/>
          <p:cNvSpPr/>
          <p:nvPr/>
        </p:nvSpPr>
        <p:spPr>
          <a:xfrm>
            <a:off x="395536" y="548680"/>
            <a:ext cx="2520280" cy="1152128"/>
          </a:xfrm>
          <a:prstGeom prst="roundRect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 smtClean="0">
                <a:solidFill>
                  <a:schemeClr val="tx2"/>
                </a:solidFill>
              </a:rPr>
              <a:t>Share of </a:t>
            </a:r>
            <a:r>
              <a:rPr lang="nl-NL" b="1" dirty="0" err="1" smtClean="0">
                <a:solidFill>
                  <a:schemeClr val="tx2"/>
                </a:solidFill>
              </a:rPr>
              <a:t>elderly-related</a:t>
            </a:r>
            <a:r>
              <a:rPr lang="nl-NL" b="1" dirty="0" smtClean="0">
                <a:solidFill>
                  <a:schemeClr val="tx2"/>
                </a:solidFill>
              </a:rPr>
              <a:t> health </a:t>
            </a:r>
            <a:r>
              <a:rPr lang="nl-NL" b="1" dirty="0" err="1" smtClean="0">
                <a:solidFill>
                  <a:schemeClr val="tx2"/>
                </a:solidFill>
              </a:rPr>
              <a:t>news</a:t>
            </a:r>
            <a:endParaRPr lang="nl-BE" b="1" dirty="0">
              <a:solidFill>
                <a:schemeClr val="tx2"/>
              </a:solidFill>
            </a:endParaRPr>
          </a:p>
        </p:txBody>
      </p:sp>
      <p:sp>
        <p:nvSpPr>
          <p:cNvPr id="3" name="Afgeronde rechthoek 2"/>
          <p:cNvSpPr/>
          <p:nvPr/>
        </p:nvSpPr>
        <p:spPr>
          <a:xfrm>
            <a:off x="3275856" y="548680"/>
            <a:ext cx="2520280" cy="1152128"/>
          </a:xfrm>
          <a:prstGeom prst="roundRect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 err="1" smtClean="0">
                <a:solidFill>
                  <a:schemeClr val="tx2"/>
                </a:solidFill>
              </a:rPr>
              <a:t>Sourcing</a:t>
            </a:r>
            <a:r>
              <a:rPr lang="nl-NL" b="1" dirty="0" smtClean="0">
                <a:solidFill>
                  <a:schemeClr val="tx2"/>
                </a:solidFill>
              </a:rPr>
              <a:t> </a:t>
            </a:r>
            <a:r>
              <a:rPr lang="nl-NL" b="1" dirty="0" err="1" smtClean="0">
                <a:solidFill>
                  <a:schemeClr val="tx2"/>
                </a:solidFill>
              </a:rPr>
              <a:t>practices</a:t>
            </a:r>
            <a:endParaRPr lang="nl-NL" b="1" dirty="0" smtClean="0">
              <a:solidFill>
                <a:schemeClr val="tx2"/>
              </a:solidFill>
            </a:endParaRPr>
          </a:p>
        </p:txBody>
      </p:sp>
      <p:sp>
        <p:nvSpPr>
          <p:cNvPr id="4" name="Afgeronde rechthoek 3"/>
          <p:cNvSpPr/>
          <p:nvPr/>
        </p:nvSpPr>
        <p:spPr>
          <a:xfrm>
            <a:off x="6039593" y="548680"/>
            <a:ext cx="2520280" cy="1152128"/>
          </a:xfrm>
          <a:prstGeom prst="roundRect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 err="1" smtClean="0">
                <a:solidFill>
                  <a:schemeClr val="tx2"/>
                </a:solidFill>
              </a:rPr>
              <a:t>Role</a:t>
            </a:r>
            <a:r>
              <a:rPr lang="nl-NL" b="1" dirty="0" smtClean="0">
                <a:solidFill>
                  <a:schemeClr val="tx2"/>
                </a:solidFill>
              </a:rPr>
              <a:t> of the media</a:t>
            </a:r>
          </a:p>
        </p:txBody>
      </p:sp>
      <p:cxnSp>
        <p:nvCxnSpPr>
          <p:cNvPr id="6" name="Rechte verbindingslijn 5"/>
          <p:cNvCxnSpPr>
            <a:stCxn id="2" idx="2"/>
          </p:cNvCxnSpPr>
          <p:nvPr/>
        </p:nvCxnSpPr>
        <p:spPr>
          <a:xfrm>
            <a:off x="1655676" y="1700808"/>
            <a:ext cx="0" cy="576064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Rechte verbindingslijn 6"/>
          <p:cNvCxnSpPr/>
          <p:nvPr/>
        </p:nvCxnSpPr>
        <p:spPr>
          <a:xfrm>
            <a:off x="4545804" y="1700808"/>
            <a:ext cx="0" cy="576064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Rechte verbindingslijn 8"/>
          <p:cNvCxnSpPr/>
          <p:nvPr/>
        </p:nvCxnSpPr>
        <p:spPr>
          <a:xfrm>
            <a:off x="1655676" y="2276872"/>
            <a:ext cx="288032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Rechte verbindingslijn met pijl 10"/>
          <p:cNvCxnSpPr>
            <a:endCxn id="12" idx="0"/>
          </p:cNvCxnSpPr>
          <p:nvPr/>
        </p:nvCxnSpPr>
        <p:spPr>
          <a:xfrm>
            <a:off x="3095836" y="2276872"/>
            <a:ext cx="0" cy="754772"/>
          </a:xfrm>
          <a:prstGeom prst="straightConnector1">
            <a:avLst/>
          </a:prstGeom>
          <a:ln w="3810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Afgeronde rechthoek 11"/>
          <p:cNvSpPr/>
          <p:nvPr/>
        </p:nvSpPr>
        <p:spPr>
          <a:xfrm>
            <a:off x="1673678" y="3031644"/>
            <a:ext cx="2844316" cy="2413579"/>
          </a:xfrm>
          <a:prstGeom prst="round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nl-NL" sz="2000" b="1" dirty="0" err="1" smtClean="0">
                <a:solidFill>
                  <a:srgbClr val="0070C0"/>
                </a:solidFill>
              </a:rPr>
              <a:t>Quantitative</a:t>
            </a:r>
            <a:r>
              <a:rPr lang="nl-NL" sz="2000" b="1" dirty="0" smtClean="0">
                <a:solidFill>
                  <a:srgbClr val="0070C0"/>
                </a:solidFill>
              </a:rPr>
              <a:t> content analysis</a:t>
            </a:r>
          </a:p>
          <a:p>
            <a:pPr algn="ctr"/>
            <a:r>
              <a:rPr lang="nl-NL" sz="2000" b="1" dirty="0" smtClean="0">
                <a:solidFill>
                  <a:srgbClr val="0070C0"/>
                </a:solidFill>
              </a:rPr>
              <a:t>(2015)</a:t>
            </a:r>
          </a:p>
          <a:p>
            <a:pPr algn="ctr"/>
            <a:r>
              <a:rPr lang="nl-NL" sz="2000" b="1" dirty="0" err="1" smtClean="0">
                <a:solidFill>
                  <a:srgbClr val="0070C0"/>
                </a:solidFill>
              </a:rPr>
              <a:t>Newspapers</a:t>
            </a:r>
            <a:endParaRPr lang="nl-NL" sz="2000" b="1" dirty="0" smtClean="0">
              <a:solidFill>
                <a:srgbClr val="0070C0"/>
              </a:solidFill>
            </a:endParaRPr>
          </a:p>
          <a:p>
            <a:pPr algn="ctr"/>
            <a:r>
              <a:rPr lang="nl-NL" sz="2000" b="1" dirty="0" smtClean="0">
                <a:solidFill>
                  <a:srgbClr val="0070C0"/>
                </a:solidFill>
              </a:rPr>
              <a:t>Magazines</a:t>
            </a:r>
          </a:p>
          <a:p>
            <a:pPr algn="ctr"/>
            <a:r>
              <a:rPr lang="nl-NL" sz="2000" b="1" dirty="0" err="1" smtClean="0">
                <a:solidFill>
                  <a:srgbClr val="0070C0"/>
                </a:solidFill>
              </a:rPr>
              <a:t>Television</a:t>
            </a:r>
            <a:endParaRPr lang="nl-NL" sz="2000" b="1" dirty="0" smtClean="0">
              <a:solidFill>
                <a:srgbClr val="0070C0"/>
              </a:solidFill>
            </a:endParaRPr>
          </a:p>
          <a:p>
            <a:pPr algn="ctr"/>
            <a:r>
              <a:rPr lang="nl-NL" sz="2000" b="1" dirty="0" smtClean="0">
                <a:solidFill>
                  <a:srgbClr val="0070C0"/>
                </a:solidFill>
              </a:rPr>
              <a:t>Online </a:t>
            </a:r>
            <a:r>
              <a:rPr lang="nl-NL" sz="2000" b="1" dirty="0" err="1" smtClean="0">
                <a:solidFill>
                  <a:srgbClr val="0070C0"/>
                </a:solidFill>
              </a:rPr>
              <a:t>news</a:t>
            </a:r>
            <a:endParaRPr lang="nl-NL" sz="2000" b="1" dirty="0" smtClean="0">
              <a:solidFill>
                <a:srgbClr val="0070C0"/>
              </a:solidFill>
            </a:endParaRPr>
          </a:p>
          <a:p>
            <a:pPr algn="ctr"/>
            <a:endParaRPr lang="nl-BE" b="1" dirty="0">
              <a:solidFill>
                <a:srgbClr val="0070C0"/>
              </a:solidFill>
            </a:endParaRPr>
          </a:p>
        </p:txBody>
      </p:sp>
      <p:sp>
        <p:nvSpPr>
          <p:cNvPr id="13" name="Afgeronde rechthoek 12"/>
          <p:cNvSpPr/>
          <p:nvPr/>
        </p:nvSpPr>
        <p:spPr>
          <a:xfrm>
            <a:off x="5715557" y="2420888"/>
            <a:ext cx="2844316" cy="864096"/>
          </a:xfrm>
          <a:prstGeom prst="round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nl-NL" sz="2000" b="1" dirty="0" smtClean="0">
                <a:solidFill>
                  <a:srgbClr val="0070C0"/>
                </a:solidFill>
              </a:rPr>
              <a:t>Frame analysis</a:t>
            </a:r>
          </a:p>
          <a:p>
            <a:pPr algn="ctr"/>
            <a:endParaRPr lang="nl-BE" b="1" dirty="0">
              <a:solidFill>
                <a:srgbClr val="0070C0"/>
              </a:solidFill>
            </a:endParaRPr>
          </a:p>
        </p:txBody>
      </p:sp>
      <p:sp>
        <p:nvSpPr>
          <p:cNvPr id="14" name="Afgeronde rechthoek 13"/>
          <p:cNvSpPr/>
          <p:nvPr/>
        </p:nvSpPr>
        <p:spPr>
          <a:xfrm>
            <a:off x="5715557" y="3717032"/>
            <a:ext cx="2844316" cy="864096"/>
          </a:xfrm>
          <a:prstGeom prst="round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nl-NL" sz="2000" b="1" dirty="0" smtClean="0">
                <a:solidFill>
                  <a:srgbClr val="0070C0"/>
                </a:solidFill>
              </a:rPr>
              <a:t>Discourse analysis</a:t>
            </a:r>
          </a:p>
          <a:p>
            <a:pPr algn="ctr"/>
            <a:endParaRPr lang="nl-BE" b="1" dirty="0">
              <a:solidFill>
                <a:srgbClr val="0070C0"/>
              </a:solidFill>
            </a:endParaRPr>
          </a:p>
        </p:txBody>
      </p:sp>
      <p:sp>
        <p:nvSpPr>
          <p:cNvPr id="15" name="Afgeronde rechthoek 14"/>
          <p:cNvSpPr/>
          <p:nvPr/>
        </p:nvSpPr>
        <p:spPr>
          <a:xfrm>
            <a:off x="5715557" y="5013176"/>
            <a:ext cx="2844316" cy="864096"/>
          </a:xfrm>
          <a:prstGeom prst="round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nl-NL" sz="2000" b="1" dirty="0" smtClean="0">
                <a:solidFill>
                  <a:srgbClr val="0070C0"/>
                </a:solidFill>
              </a:rPr>
              <a:t>Issue Attention </a:t>
            </a:r>
            <a:r>
              <a:rPr lang="nl-NL" sz="2000" b="1" dirty="0" err="1">
                <a:solidFill>
                  <a:srgbClr val="0070C0"/>
                </a:solidFill>
              </a:rPr>
              <a:t>C</a:t>
            </a:r>
            <a:r>
              <a:rPr lang="nl-NL" sz="2000" b="1" dirty="0" err="1" smtClean="0">
                <a:solidFill>
                  <a:srgbClr val="0070C0"/>
                </a:solidFill>
              </a:rPr>
              <a:t>ycle</a:t>
            </a:r>
            <a:endParaRPr lang="nl-NL" sz="2000" b="1" dirty="0" smtClean="0">
              <a:solidFill>
                <a:srgbClr val="0070C0"/>
              </a:solidFill>
            </a:endParaRPr>
          </a:p>
          <a:p>
            <a:pPr algn="ctr"/>
            <a:endParaRPr lang="nl-BE" b="1" dirty="0">
              <a:solidFill>
                <a:srgbClr val="0070C0"/>
              </a:solidFill>
            </a:endParaRPr>
          </a:p>
        </p:txBody>
      </p:sp>
      <p:cxnSp>
        <p:nvCxnSpPr>
          <p:cNvPr id="16" name="Rechte verbindingslijn met pijl 15"/>
          <p:cNvCxnSpPr/>
          <p:nvPr/>
        </p:nvCxnSpPr>
        <p:spPr>
          <a:xfrm>
            <a:off x="7299733" y="1700808"/>
            <a:ext cx="0" cy="720080"/>
          </a:xfrm>
          <a:prstGeom prst="straightConnector1">
            <a:avLst/>
          </a:prstGeom>
          <a:ln w="3810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Rechte verbindingslijn 17"/>
          <p:cNvCxnSpPr/>
          <p:nvPr/>
        </p:nvCxnSpPr>
        <p:spPr>
          <a:xfrm>
            <a:off x="5148064" y="2830244"/>
            <a:ext cx="1" cy="261498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Rechte verbindingslijn met pijl 24"/>
          <p:cNvCxnSpPr>
            <a:stCxn id="12" idx="3"/>
            <a:endCxn id="14" idx="1"/>
          </p:cNvCxnSpPr>
          <p:nvPr/>
        </p:nvCxnSpPr>
        <p:spPr>
          <a:xfrm flipV="1">
            <a:off x="4517994" y="4149080"/>
            <a:ext cx="1197563" cy="89354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Rechte verbindingslijn met pijl 25"/>
          <p:cNvCxnSpPr/>
          <p:nvPr/>
        </p:nvCxnSpPr>
        <p:spPr>
          <a:xfrm>
            <a:off x="5148064" y="2830244"/>
            <a:ext cx="567492" cy="0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Rechte verbindingslijn met pijl 28"/>
          <p:cNvCxnSpPr/>
          <p:nvPr/>
        </p:nvCxnSpPr>
        <p:spPr>
          <a:xfrm>
            <a:off x="5148065" y="5445224"/>
            <a:ext cx="567492" cy="0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5186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04665"/>
            <a:ext cx="8273414" cy="2952328"/>
          </a:xfrm>
        </p:spPr>
        <p:txBody>
          <a:bodyPr/>
          <a:lstStyle/>
          <a:p>
            <a:pPr>
              <a:tabLst>
                <a:tab pos="1341438" algn="l"/>
              </a:tabLst>
            </a:pPr>
            <a:r>
              <a:rPr lang="nl-NL" sz="3600" dirty="0" smtClean="0"/>
              <a:t>WP4: </a:t>
            </a:r>
            <a:r>
              <a:rPr lang="nl-NL" sz="3600" dirty="0" err="1" smtClean="0"/>
              <a:t>audience</a:t>
            </a:r>
            <a:r>
              <a:rPr lang="nl-NL" sz="3600" dirty="0" smtClean="0"/>
              <a:t> </a:t>
            </a:r>
            <a:br>
              <a:rPr lang="nl-NL" sz="3600" dirty="0" smtClean="0"/>
            </a:br>
            <a:r>
              <a:rPr lang="nl-NL" sz="3600" dirty="0" smtClean="0"/>
              <a:t>research</a:t>
            </a:r>
            <a:br>
              <a:rPr lang="nl-NL" sz="3600" dirty="0" smtClean="0"/>
            </a:br>
            <a:r>
              <a:rPr lang="nl-NL" sz="3600" dirty="0"/>
              <a:t>	</a:t>
            </a:r>
            <a:endParaRPr lang="nl-BE" sz="3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3573016"/>
            <a:ext cx="7859216" cy="2141984"/>
          </a:xfrm>
        </p:spPr>
        <p:txBody>
          <a:bodyPr>
            <a:normAutofit/>
          </a:bodyPr>
          <a:lstStyle/>
          <a:p>
            <a:r>
              <a:rPr lang="nl-NL" sz="1800" dirty="0" smtClean="0"/>
              <a:t>Communication </a:t>
            </a:r>
            <a:r>
              <a:rPr lang="nl-NL" sz="1800" dirty="0" err="1" smtClean="0"/>
              <a:t>sciences</a:t>
            </a:r>
            <a:endParaRPr lang="nl-NL" sz="1800" dirty="0" smtClean="0"/>
          </a:p>
          <a:p>
            <a:endParaRPr lang="nl-NL" sz="1800" dirty="0"/>
          </a:p>
          <a:p>
            <a:r>
              <a:rPr lang="nl-NL" sz="1800" dirty="0" err="1" smtClean="0"/>
              <a:t>Phd</a:t>
            </a:r>
            <a:r>
              <a:rPr lang="nl-NL" sz="1800" dirty="0" smtClean="0"/>
              <a:t> student: </a:t>
            </a:r>
            <a:r>
              <a:rPr lang="nl-NL" sz="1800" dirty="0" err="1" smtClean="0"/>
              <a:t>Violetta</a:t>
            </a:r>
            <a:r>
              <a:rPr lang="nl-NL" sz="1800" dirty="0" smtClean="0"/>
              <a:t> </a:t>
            </a:r>
            <a:r>
              <a:rPr lang="nl-NL" sz="1800" dirty="0" err="1" smtClean="0"/>
              <a:t>jitomirskaya</a:t>
            </a:r>
            <a:endParaRPr lang="nl-NL" sz="1800" dirty="0" smtClean="0"/>
          </a:p>
          <a:p>
            <a:r>
              <a:rPr lang="nl-NL" sz="1800" dirty="0" smtClean="0"/>
              <a:t>supervisors: </a:t>
            </a:r>
            <a:r>
              <a:rPr lang="nl-NL" sz="1800" dirty="0" err="1" smtClean="0"/>
              <a:t>stijn</a:t>
            </a:r>
            <a:r>
              <a:rPr lang="nl-NL" sz="1800" dirty="0" smtClean="0"/>
              <a:t> </a:t>
            </a:r>
            <a:r>
              <a:rPr lang="nl-NL" sz="1800" dirty="0" err="1" smtClean="0"/>
              <a:t>joye</a:t>
            </a:r>
            <a:r>
              <a:rPr lang="nl-NL" sz="1800" dirty="0" smtClean="0"/>
              <a:t> and </a:t>
            </a:r>
            <a:r>
              <a:rPr lang="nl-NL" sz="1800" dirty="0" err="1" smtClean="0"/>
              <a:t>daniël</a:t>
            </a:r>
            <a:r>
              <a:rPr lang="nl-NL" sz="1800" dirty="0" smtClean="0"/>
              <a:t> </a:t>
            </a:r>
            <a:r>
              <a:rPr lang="nl-NL" sz="1800" dirty="0" err="1" smtClean="0"/>
              <a:t>biltereyst</a:t>
            </a:r>
            <a:endParaRPr lang="nl-NL" sz="1800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439" y="5676785"/>
            <a:ext cx="1882197" cy="90907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6336" y="5837759"/>
            <a:ext cx="1134278" cy="823068"/>
          </a:xfrm>
          <a:prstGeom prst="rect">
            <a:avLst/>
          </a:prstGeom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152" y="620688"/>
            <a:ext cx="2381250" cy="2381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256589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6635080" cy="1044034"/>
          </a:xfrm>
        </p:spPr>
        <p:txBody>
          <a:bodyPr>
            <a:normAutofit fontScale="90000"/>
          </a:bodyPr>
          <a:lstStyle/>
          <a:p>
            <a:r>
              <a:rPr lang="nl-NL" dirty="0" smtClean="0"/>
              <a:t>WP4: </a:t>
            </a:r>
            <a:r>
              <a:rPr lang="nl-NL" dirty="0" err="1" smtClean="0"/>
              <a:t>audience</a:t>
            </a:r>
            <a:r>
              <a:rPr lang="nl-NL" dirty="0" smtClean="0"/>
              <a:t> research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700808"/>
            <a:ext cx="8075240" cy="4412704"/>
          </a:xfrm>
        </p:spPr>
        <p:txBody>
          <a:bodyPr>
            <a:norm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nl-BE" dirty="0" smtClean="0"/>
              <a:t>GOAL</a:t>
            </a:r>
          </a:p>
          <a:p>
            <a:pPr marL="800100" lvl="1" indent="-342900"/>
            <a:r>
              <a:rPr lang="nl-BE" dirty="0" err="1" smtClean="0"/>
              <a:t>Investigate</a:t>
            </a:r>
            <a:r>
              <a:rPr lang="nl-BE" dirty="0" smtClean="0"/>
              <a:t> </a:t>
            </a:r>
            <a:r>
              <a:rPr lang="nl-BE" dirty="0" err="1" smtClean="0"/>
              <a:t>how</a:t>
            </a:r>
            <a:r>
              <a:rPr lang="nl-BE" dirty="0" smtClean="0"/>
              <a:t> </a:t>
            </a:r>
            <a:r>
              <a:rPr lang="nl-BE" dirty="0" err="1" smtClean="0"/>
              <a:t>elderly</a:t>
            </a:r>
            <a:r>
              <a:rPr lang="nl-BE" dirty="0" smtClean="0"/>
              <a:t> </a:t>
            </a:r>
            <a:r>
              <a:rPr lang="nl-BE" dirty="0" err="1" smtClean="0"/>
              <a:t>people</a:t>
            </a:r>
            <a:r>
              <a:rPr lang="nl-BE" dirty="0" smtClean="0"/>
              <a:t> </a:t>
            </a:r>
            <a:r>
              <a:rPr lang="nl-BE" dirty="0" err="1" smtClean="0"/>
              <a:t>perceive</a:t>
            </a:r>
            <a:r>
              <a:rPr lang="nl-BE" dirty="0" smtClean="0"/>
              <a:t>, </a:t>
            </a:r>
            <a:r>
              <a:rPr lang="nl-BE" dirty="0" err="1" smtClean="0"/>
              <a:t>interpret</a:t>
            </a:r>
            <a:r>
              <a:rPr lang="nl-BE" dirty="0" smtClean="0"/>
              <a:t>, trust and </a:t>
            </a:r>
            <a:r>
              <a:rPr lang="nl-BE" dirty="0" err="1" smtClean="0"/>
              <a:t>use</a:t>
            </a:r>
            <a:r>
              <a:rPr lang="nl-BE" dirty="0" smtClean="0"/>
              <a:t> health information</a:t>
            </a:r>
          </a:p>
          <a:p>
            <a:pPr marL="800100" lvl="1" indent="-342900"/>
            <a:r>
              <a:rPr lang="nl-BE" b="0" dirty="0" err="1" smtClean="0"/>
              <a:t>Brought</a:t>
            </a:r>
            <a:r>
              <a:rPr lang="nl-BE" b="0" dirty="0" smtClean="0"/>
              <a:t> </a:t>
            </a:r>
            <a:r>
              <a:rPr lang="nl-BE" b="0" dirty="0" err="1" smtClean="0"/>
              <a:t>to</a:t>
            </a:r>
            <a:r>
              <a:rPr lang="nl-BE" b="0" dirty="0" smtClean="0"/>
              <a:t> </a:t>
            </a:r>
            <a:r>
              <a:rPr lang="nl-BE" b="0" dirty="0" err="1" smtClean="0"/>
              <a:t>them</a:t>
            </a:r>
            <a:r>
              <a:rPr lang="nl-BE" b="0" dirty="0" smtClean="0"/>
              <a:t> </a:t>
            </a:r>
            <a:r>
              <a:rPr lang="nl-BE" b="0" dirty="0" err="1" smtClean="0"/>
              <a:t>by</a:t>
            </a:r>
            <a:r>
              <a:rPr lang="nl-BE" b="0" dirty="0" smtClean="0"/>
              <a:t> </a:t>
            </a:r>
            <a:r>
              <a:rPr lang="nl-BE" b="0" dirty="0" err="1" smtClean="0"/>
              <a:t>news</a:t>
            </a:r>
            <a:r>
              <a:rPr lang="nl-BE" b="0" dirty="0" smtClean="0"/>
              <a:t> media and </a:t>
            </a:r>
            <a:r>
              <a:rPr lang="nl-BE" b="0" dirty="0" err="1" smtClean="0"/>
              <a:t>other</a:t>
            </a:r>
            <a:r>
              <a:rPr lang="nl-BE" b="0" dirty="0" smtClean="0"/>
              <a:t> stakeholders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nl-BE" b="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nl-BE" dirty="0" smtClean="0"/>
              <a:t>METHOD</a:t>
            </a:r>
          </a:p>
          <a:p>
            <a:pPr marL="800100" lvl="1" indent="-342900"/>
            <a:r>
              <a:rPr lang="nl-BE" dirty="0" err="1" smtClean="0"/>
              <a:t>Exploratory</a:t>
            </a:r>
            <a:r>
              <a:rPr lang="nl-BE" dirty="0" smtClean="0"/>
              <a:t> analysis: media </a:t>
            </a:r>
            <a:r>
              <a:rPr lang="nl-BE" dirty="0" err="1" smtClean="0"/>
              <a:t>use</a:t>
            </a:r>
            <a:r>
              <a:rPr lang="nl-BE" dirty="0" smtClean="0"/>
              <a:t> (</a:t>
            </a:r>
            <a:r>
              <a:rPr lang="nl-BE" dirty="0" err="1" smtClean="0"/>
              <a:t>Digimeter</a:t>
            </a:r>
            <a:r>
              <a:rPr lang="nl-BE" dirty="0" smtClean="0"/>
              <a:t>)</a:t>
            </a:r>
          </a:p>
          <a:p>
            <a:pPr marL="800100" lvl="1" indent="-342900"/>
            <a:r>
              <a:rPr lang="nl-BE" b="0" dirty="0" smtClean="0"/>
              <a:t>In-</a:t>
            </a:r>
            <a:r>
              <a:rPr lang="nl-BE" b="0" dirty="0" err="1" smtClean="0"/>
              <a:t>depth</a:t>
            </a:r>
            <a:r>
              <a:rPr lang="nl-BE" b="0" dirty="0" smtClean="0"/>
              <a:t> interviews </a:t>
            </a:r>
            <a:r>
              <a:rPr lang="nl-BE" b="0" dirty="0" err="1" smtClean="0"/>
              <a:t>with</a:t>
            </a:r>
            <a:r>
              <a:rPr lang="nl-BE" b="0" dirty="0" smtClean="0"/>
              <a:t> members of the </a:t>
            </a:r>
            <a:r>
              <a:rPr lang="nl-BE" b="0" dirty="0" err="1" smtClean="0"/>
              <a:t>audience</a:t>
            </a:r>
            <a:endParaRPr lang="nl-BE" b="0" dirty="0" smtClean="0"/>
          </a:p>
          <a:p>
            <a:pPr marL="800100" lvl="1" indent="-342900"/>
            <a:r>
              <a:rPr lang="nl-BE" dirty="0" smtClean="0"/>
              <a:t>Focus </a:t>
            </a:r>
            <a:r>
              <a:rPr lang="nl-BE" dirty="0" err="1" smtClean="0"/>
              <a:t>groups</a:t>
            </a:r>
            <a:r>
              <a:rPr lang="nl-BE" dirty="0" smtClean="0"/>
              <a:t> </a:t>
            </a:r>
            <a:r>
              <a:rPr lang="en-US" dirty="0" smtClean="0"/>
              <a:t>with </a:t>
            </a:r>
            <a:r>
              <a:rPr lang="en-US" dirty="0"/>
              <a:t>members of the audience</a:t>
            </a:r>
            <a:endParaRPr lang="nl-BE" b="0" dirty="0" smtClean="0"/>
          </a:p>
        </p:txBody>
      </p:sp>
    </p:spTree>
    <p:extLst>
      <p:ext uri="{BB962C8B-B14F-4D97-AF65-F5344CB8AC3E}">
        <p14:creationId xmlns:p14="http://schemas.microsoft.com/office/powerpoint/2010/main" val="4187143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7283152" cy="1116042"/>
          </a:xfrm>
        </p:spPr>
        <p:txBody>
          <a:bodyPr>
            <a:normAutofit/>
          </a:bodyPr>
          <a:lstStyle/>
          <a:p>
            <a:r>
              <a:rPr lang="en-US" dirty="0" smtClean="0"/>
              <a:t>Want to know more?</a:t>
            </a:r>
            <a:endParaRPr lang="en-US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457200" y="1752601"/>
            <a:ext cx="7620000" cy="668288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>
                <a:hlinkClick r:id="rId3"/>
              </a:rPr>
              <a:t>www.healthmediasociety.net</a:t>
            </a:r>
            <a:r>
              <a:rPr lang="en-US" dirty="0" smtClean="0"/>
              <a:t> 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176" b="5569"/>
          <a:stretch/>
        </p:blipFill>
        <p:spPr bwMode="auto">
          <a:xfrm>
            <a:off x="899592" y="2276872"/>
            <a:ext cx="7165653" cy="4383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098163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xpertenpanel14012015 - SarahVDB">
  <a:themeElements>
    <a:clrScheme name="Custom 1">
      <a:dk1>
        <a:srgbClr val="000000"/>
      </a:dk1>
      <a:lt1>
        <a:srgbClr val="FFFFFF"/>
      </a:lt1>
      <a:dk2>
        <a:srgbClr val="00B050"/>
      </a:dk2>
      <a:lt2>
        <a:srgbClr val="C8C8B1"/>
      </a:lt2>
      <a:accent1>
        <a:srgbClr val="7A7A7A"/>
      </a:accent1>
      <a:accent2>
        <a:srgbClr val="F5C201"/>
      </a:accent2>
      <a:accent3>
        <a:srgbClr val="526DB0"/>
      </a:accent3>
      <a:accent4>
        <a:srgbClr val="989AAC"/>
      </a:accent4>
      <a:accent5>
        <a:srgbClr val="DC5924"/>
      </a:accent5>
      <a:accent6>
        <a:srgbClr val="B4B392"/>
      </a:accent6>
      <a:hlink>
        <a:srgbClr val="CC9900"/>
      </a:hlink>
      <a:folHlink>
        <a:srgbClr val="969696"/>
      </a:folHlink>
    </a:clrScheme>
    <a:fontScheme name="Essential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sential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250000"/>
              </a:schemeClr>
            </a:gs>
            <a:gs pos="35000">
              <a:schemeClr val="phClr">
                <a:tint val="47000"/>
                <a:satMod val="275000"/>
              </a:schemeClr>
            </a:gs>
            <a:gs pos="100000">
              <a:schemeClr val="phClr">
                <a:tint val="25000"/>
                <a:satMod val="300000"/>
              </a:schemeClr>
            </a:gs>
          </a:gsLst>
          <a:lin ang="16200000" scaled="1"/>
        </a:gradFill>
        <a:solidFill>
          <a:schemeClr val="phClr">
            <a:satMod val="110000"/>
          </a:schemeClr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4127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9999" dist="23000" algn="bl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19050" algn="bl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l"/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6000"/>
              </a:schemeClr>
              <a:schemeClr val="phClr">
                <a:shade val="94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84000"/>
                <a:satMod val="110000"/>
              </a:schemeClr>
            </a:gs>
            <a:gs pos="44000">
              <a:schemeClr val="phClr">
                <a:tint val="93000"/>
                <a:satMod val="115000"/>
              </a:schemeClr>
            </a:gs>
            <a:gs pos="100000">
              <a:schemeClr val="phClr">
                <a:tint val="100000"/>
                <a:shade val="59000"/>
                <a:satMod val="120000"/>
              </a:schemeClr>
            </a:gs>
          </a:gsLst>
          <a:path path="circle">
            <a:fillToRect l="40000" t="60000" r="60000" b="4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Kantoorthema">
  <a:themeElements>
    <a:clrScheme name="Kanto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to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Expertenpanel14012015 - SarahVDB</Template>
  <TotalTime>496</TotalTime>
  <Words>513</Words>
  <Application>Microsoft Office PowerPoint</Application>
  <PresentationFormat>Diavoorstelling (4:3)</PresentationFormat>
  <Paragraphs>136</Paragraphs>
  <Slides>16</Slides>
  <Notes>16</Notes>
  <HiddenSlides>0</HiddenSlides>
  <MMClips>0</MMClips>
  <ScaleCrop>false</ScaleCrop>
  <HeadingPairs>
    <vt:vector size="4" baseType="variant">
      <vt:variant>
        <vt:lpstr>Thema</vt:lpstr>
      </vt:variant>
      <vt:variant>
        <vt:i4>1</vt:i4>
      </vt:variant>
      <vt:variant>
        <vt:lpstr>Diatitels</vt:lpstr>
      </vt:variant>
      <vt:variant>
        <vt:i4>16</vt:i4>
      </vt:variant>
    </vt:vector>
  </HeadingPairs>
  <TitlesOfParts>
    <vt:vector size="17" baseType="lpstr">
      <vt:lpstr>Expertenpanel14012015 - SarahVDB</vt:lpstr>
      <vt:lpstr>(de)constructing health news:  a transdisciplinary investigation into news media coverage of elderly-related health issues</vt:lpstr>
      <vt:lpstr>Context of the PROJECT</vt:lpstr>
      <vt:lpstr>Start-to-end perspective</vt:lpstr>
      <vt:lpstr>Stakeholders</vt:lpstr>
      <vt:lpstr>Transdisciplinary research</vt:lpstr>
      <vt:lpstr>Health, Media &amp; Society</vt:lpstr>
      <vt:lpstr>Research design</vt:lpstr>
      <vt:lpstr>WP1: Stakeholder analysis</vt:lpstr>
      <vt:lpstr>WP1: Stakeholder analysis</vt:lpstr>
      <vt:lpstr>WP2: production processes  </vt:lpstr>
      <vt:lpstr>PowerPoint-presentatie</vt:lpstr>
      <vt:lpstr>WP3: news content  </vt:lpstr>
      <vt:lpstr>PowerPoint-presentatie</vt:lpstr>
      <vt:lpstr>WP4: audience  research  </vt:lpstr>
      <vt:lpstr>WP4: audience research</vt:lpstr>
      <vt:lpstr>Want to know more?</vt:lpstr>
    </vt:vector>
  </TitlesOfParts>
  <Company>UGent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WP1: Stakeholder analyse</dc:title>
  <dc:creator>Sarah Van den Bogaert</dc:creator>
  <cp:lastModifiedBy>Sarah Van Leuven</cp:lastModifiedBy>
  <cp:revision>92</cp:revision>
  <cp:lastPrinted>2015-01-29T15:23:06Z</cp:lastPrinted>
  <dcterms:created xsi:type="dcterms:W3CDTF">2015-01-07T14:11:11Z</dcterms:created>
  <dcterms:modified xsi:type="dcterms:W3CDTF">2015-02-04T10:48:32Z</dcterms:modified>
</cp:coreProperties>
</file>